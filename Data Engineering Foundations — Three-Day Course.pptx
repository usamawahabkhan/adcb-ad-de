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00" cy="9144000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753600" cy="635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635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ENGINEERING COURSE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2000" y="1143000"/>
            <a:ext cx="1270000" cy="25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97000"/>
            <a:ext cx="8128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48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 Engineering Foundations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62000" y="3365500"/>
            <a:ext cx="812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Comprehensive Three-Day Course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4000500"/>
            <a:ext cx="2286000" cy="127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42164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June 2026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2000" y="45974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5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Concepts to Production-Ready Pipelines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8420100"/>
            <a:ext cx="812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FFFFFF">
                    <a:alpha val="3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Ingestion and SQL to Warehousing, ETL/ELT, and Modern Architecture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753600" y="0"/>
            <a:ext cx="6502400" cy="6350000"/>
          </a:xfrm>
          <a:prstGeom prst="rect">
            <a:avLst/>
          </a:prstGeom>
          <a:solidFill>
            <a:srgbClr val="1A2B40"/>
          </a:solidFill>
          <a:ln/>
        </p:spPr>
      </p:sp>
      <p:sp>
        <p:nvSpPr>
          <p:cNvPr id="13" name="Shape 11"/>
          <p:cNvSpPr/>
          <p:nvPr/>
        </p:nvSpPr>
        <p:spPr>
          <a:xfrm>
            <a:off x="9753600" y="0"/>
            <a:ext cx="6502400" cy="50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0" y="2794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4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 DATA PIPELINE LANDSCAPE 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160000" y="6604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 Days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12700000" y="6604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400" b="1" dirty="0">
                <a:solidFill>
                  <a:srgbClr val="C996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 Modules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10160000" y="7747000"/>
            <a:ext cx="533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 Duration  |  Core Learning Modules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160000" y="8483600"/>
            <a:ext cx="5334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0" y="8572500"/>
            <a:ext cx="533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Beginner to Intermediate Level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381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279400"/>
            <a:ext cx="609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400" b="1" dirty="0">
                <a:solidFill>
                  <a:srgbClr val="0F264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Contents</a:t>
            </a:r>
            <a:pPr algn="l">
              <a:lnSpc>
                <a:spcPct val="120000"/>
              </a:lnSpc>
            </a:pPr>
            <a:r>
              <a:rPr lang="en-US" sz="1700" dirty="0">
                <a:solidFill>
                  <a:srgbClr val="8899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/ COURSE OVERVIEW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14732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270000"/>
            <a:ext cx="1143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01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2032000" y="1270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264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Introduction to Data Engineering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32000" y="17145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899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Role definition, core concepts, data paradigms, OLTP vs OLAP, pipelines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2000" y="2222500"/>
            <a:ext cx="7620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2438400"/>
            <a:ext cx="1143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02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2032000" y="24384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264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Advanced SQL for Data Manipulation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32000" y="28829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899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DQL, DML, DDL, window functions, CTEs, warehouse loading patterns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2000" y="3390900"/>
            <a:ext cx="7620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3606800"/>
            <a:ext cx="1143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03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2032000" y="36068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264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 Warehousing Fundamentals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032000" y="40513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899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Dimensional modeling, star/snowflake schemas, slowly changing dimensions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2000" y="4559300"/>
            <a:ext cx="7620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4775200"/>
            <a:ext cx="1143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04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2032000" y="47752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264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Mastering ETL &amp; ELT Processes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032000" y="52197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899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Extraction patterns, transformation strategies, full vs incremental loading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2000" y="5727700"/>
            <a:ext cx="7620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5943600"/>
            <a:ext cx="1143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05</a:t>
            </a:r>
            <a:endParaRPr lang="en-US" sz="5400" dirty="0"/>
          </a:p>
        </p:txBody>
      </p:sp>
      <p:sp>
        <p:nvSpPr>
          <p:cNvPr id="23" name="Text 21"/>
          <p:cNvSpPr/>
          <p:nvPr/>
        </p:nvSpPr>
        <p:spPr>
          <a:xfrm>
            <a:off x="2032000" y="59436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264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Modern Architecture &amp; Data Governance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032000" y="63881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899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 pipelines, cloud-native platforms, governance, emerging trends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144000" y="1270000"/>
            <a:ext cx="6350000" cy="5588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6" name="Text 24"/>
          <p:cNvSpPr/>
          <p:nvPr/>
        </p:nvSpPr>
        <p:spPr>
          <a:xfrm>
            <a:off x="9448800" y="1524000"/>
            <a:ext cx="584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COURSE OBJECTIVES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448800" y="1955800"/>
            <a:ext cx="2540000" cy="25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8" name="Text 26"/>
          <p:cNvSpPr/>
          <p:nvPr/>
        </p:nvSpPr>
        <p:spPr>
          <a:xfrm>
            <a:off x="9448800" y="2184400"/>
            <a:ext cx="5842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Day 1 — Foundations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 the Data Engineer role, core concepts, pipeline types, and master SQL for data manipulation</a:t>
            </a:r>
            <a:endParaRPr lang="en-US" sz="1500" dirty="0"/>
          </a:p>
          <a:p>
            <a:pPr algn="l">
              <a:lnSpc>
                <a:spcPct val="170000"/>
              </a:lnSpc>
            </a:pP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Day 2 — Warehousing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dimensional models, implement star/snowflake schemas, and master SCD and ETL/ELT patterns</a:t>
            </a:r>
            <a:endParaRPr lang="en-US" sz="1500" dirty="0"/>
          </a:p>
          <a:p>
            <a:pPr algn="l">
              <a:lnSpc>
                <a:spcPct val="170000"/>
              </a:lnSpc>
            </a:pP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Day 3 — Architecture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scalable pipelines, leverage cloud-native platforms, and establish data governance frameworks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30" name="Text 28"/>
          <p:cNvSpPr/>
          <p:nvPr/>
        </p:nvSpPr>
        <p:spPr>
          <a:xfrm>
            <a:off x="14478000" y="84836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8899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3" name="Text 1"/>
          <p:cNvSpPr/>
          <p:nvPr/>
        </p:nvSpPr>
        <p:spPr>
          <a:xfrm>
            <a:off x="10414000" y="2794000"/>
            <a:ext cx="5588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0" b="1" dirty="0">
                <a:solidFill>
                  <a:srgbClr val="FFFFFF">
                    <a:alpha val="10196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01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1016000" y="25400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spc="200" kern="0" dirty="0">
                <a:solidFill>
                  <a:srgbClr val="FFFFFF">
                    <a:alpha val="5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16000" y="3048000"/>
            <a:ext cx="1524000" cy="25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3302000"/>
            <a:ext cx="1143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Introduction to Data Engineering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16000" y="43180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>
                    <a:alpha val="7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Role, Concepts, Data Paradigms &amp; Pipeline Fundamentals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6000" y="4953000"/>
            <a:ext cx="990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role of the Data Engineer, core engineering concepts, the distinction between transactional and analytical systems, and the pipeline types that move data between them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9080500"/>
            <a:ext cx="16256000" cy="63500"/>
          </a:xfrm>
          <a:prstGeom prst="rect">
            <a:avLst/>
          </a:prstGeom>
          <a:solidFill>
            <a:srgbClr val="C9963B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27000"/>
            <a:ext cx="50800" cy="685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87400" y="152400"/>
            <a:ext cx="146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264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 engineering makes data usable, reliable, and scalable across the entire analytics lifecycle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35000" y="8636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965200"/>
            <a:ext cx="7493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8" name="Text 6"/>
          <p:cNvSpPr/>
          <p:nvPr/>
        </p:nvSpPr>
        <p:spPr>
          <a:xfrm>
            <a:off x="736600" y="965200"/>
            <a:ext cx="736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Concepts to Tool Mapping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1295400"/>
          <a:ext cx="7493000" cy="3937000"/>
        </p:xfrm>
        <a:graphic>
          <a:graphicData uri="http://schemas.openxmlformats.org/drawingml/2006/table">
            <a:tbl>
              <a:tblPr/>
              <a:tblGrid>
                <a:gridCol w="2098040"/>
                <a:gridCol w="2997200"/>
                <a:gridCol w="2397760"/>
              </a:tblGrid>
              <a:tr h="49212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Concept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Description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Example Tool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 Ingestion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Collect from APIs, DBs, files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Spark, Data Factory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Transformation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Clean, standardize, reshape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PySpark, SQL, dbt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Orchestration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Automate dependencies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Airflow, Prefect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Monitoring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Track health, failures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Datadog, Grafana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 Modeling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Define analytical structures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Dimensional models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 Quality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Validate completeness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SQL tests, Great Expectations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Lineage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Track data movement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DataHub, Collibra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255000" y="965200"/>
            <a:ext cx="736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1" name="Shape 8"/>
          <p:cNvSpPr/>
          <p:nvPr/>
        </p:nvSpPr>
        <p:spPr>
          <a:xfrm>
            <a:off x="825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2" name="Text 9"/>
          <p:cNvSpPr/>
          <p:nvPr/>
        </p:nvSpPr>
        <p:spPr>
          <a:xfrm>
            <a:off x="8356600" y="965200"/>
            <a:ext cx="723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Data Engineering Exists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356600" y="1320800"/>
            <a:ext cx="7137400" cy="391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 systems cannot answer analytical questions efficiently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OLTP databases are optimized for transactions, not complex historical reporting or large-scale aggregation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 data is fragmented across systems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Applications, databases, APIs, files, and partner feeds each hold isolated pieces of the business picture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Organizations need governed historical views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Reporting, compliance, and decision-making require consistent, auditable, and timely data assets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 makes manual preparation impossible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 volume, velocity, and variety demand automated, reliable, and scalable data pipelines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35000" y="5410200"/>
            <a:ext cx="7493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5" name="Shape 12"/>
          <p:cNvSpPr/>
          <p:nvPr/>
        </p:nvSpPr>
        <p:spPr>
          <a:xfrm>
            <a:off x="635000" y="5410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6" name="Text 13"/>
          <p:cNvSpPr/>
          <p:nvPr/>
        </p:nvSpPr>
        <p:spPr>
          <a:xfrm>
            <a:off x="736600" y="5410200"/>
            <a:ext cx="736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Engineering Lifecycle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36600" y="5765800"/>
            <a:ext cx="72644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 Systems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OLTP DBs, APIs, files, events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↓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Ingestion Layer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Batch, CDC, streaming capture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↓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/ Curated Layers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Quality checks, lineage, governance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↓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Consumption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BI, ML, APIs, reports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255000" y="5410200"/>
            <a:ext cx="736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9" name="Shape 16"/>
          <p:cNvSpPr/>
          <p:nvPr/>
        </p:nvSpPr>
        <p:spPr>
          <a:xfrm>
            <a:off x="8255000" y="5410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0" name="Text 17"/>
          <p:cNvSpPr/>
          <p:nvPr/>
        </p:nvSpPr>
        <p:spPr>
          <a:xfrm>
            <a:off x="8356600" y="5410200"/>
            <a:ext cx="723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Scope of the Data Engineer Role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356600" y="5765800"/>
            <a:ext cx="71374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Ingestion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Database extraction, API pulls, CDC, streaming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Landing zones, raw zones, curated zones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Transformation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Cleansing, normalization, business logic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Modeling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Facts, dimensions, SCD handling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Orchestration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DAGs, scheduling, retries, backfills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&amp; Governance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Tests, lineage, access control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Operations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Incident response, recovery, cost optimization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35000" y="83312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23" name="Text 20"/>
          <p:cNvSpPr/>
          <p:nvPr/>
        </p:nvSpPr>
        <p:spPr>
          <a:xfrm>
            <a:off x="635000" y="8432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Course Materials — Day 1 Supplement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5240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27000"/>
            <a:ext cx="50800" cy="685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87400" y="152400"/>
            <a:ext cx="146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264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data engineer sits at the center of a cross-functional ecosystem spanning business, architecture, and analytics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35000" y="8636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965200"/>
            <a:ext cx="1498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8" name="Text 6"/>
          <p:cNvSpPr/>
          <p:nvPr/>
        </p:nvSpPr>
        <p:spPr>
          <a:xfrm>
            <a:off x="736600" y="9652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Major Roles in a Data Project and Their Interface with the Data Engineer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1295400"/>
          <a:ext cx="14986000" cy="5334000"/>
        </p:xfrm>
        <a:graphic>
          <a:graphicData uri="http://schemas.openxmlformats.org/drawingml/2006/table">
            <a:tbl>
              <a:tblPr/>
              <a:tblGrid>
                <a:gridCol w="3296920"/>
                <a:gridCol w="4495800"/>
                <a:gridCol w="3296920"/>
                <a:gridCol w="3896360"/>
              </a:tblGrid>
              <a:tr h="44432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Role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Primary Focus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Typical Deliverables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 Interface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4432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Business Stakeholder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Business value and KPIs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Requirements, KPIs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Clarifies what data to deliver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32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 Architect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Platform and design standards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Architecture patterns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Guidance on engineering fit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44322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 Engineer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 movement and reliability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Pipelines, transformations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Central integration role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32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Analytics Engineer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Analytics-ready semantic logic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Curated marts, metrics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Builds on DE's raw layers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4432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DBA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Database performance, safety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Indexing, backup, tuning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Supports extraction patterns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32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 Analyst / BI Dev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Reporting and analysis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Dashboards, reports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Feedback on data usability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4432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 Scientist / ML Eng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Predictive analytics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Features, models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Needs governed, timely data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32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DevOps / Platform Eng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Automation and deployment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CI/CD, IaC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Enables production operations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4432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Security / Governance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Control and compliance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Access policies, audits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Ensures secure pipelines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32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QA / Test Engineer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Validation and quality assurance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Test plans, regression checks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Supports data testing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35000" y="6731000"/>
            <a:ext cx="14986000" cy="14605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1" name="Shape 8"/>
          <p:cNvSpPr/>
          <p:nvPr/>
        </p:nvSpPr>
        <p:spPr>
          <a:xfrm>
            <a:off x="635000" y="6731000"/>
            <a:ext cx="38100" cy="14605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2" name="Text 9"/>
          <p:cNvSpPr/>
          <p:nvPr/>
        </p:nvSpPr>
        <p:spPr>
          <a:xfrm>
            <a:off x="863600" y="68326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Insight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63600" y="7188200"/>
            <a:ext cx="14541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The Data Engineer is the practical bridge between business requirements, source-system realities, and downstream consumer expectations; ■ Success requires alignment across all roles, with the Data Engineer as the central integration point; ■ Understanding each role's deliverables helps engineers design pipelines that serve the entire organization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35000" y="83312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15" name="Text 12"/>
          <p:cNvSpPr/>
          <p:nvPr/>
        </p:nvSpPr>
        <p:spPr>
          <a:xfrm>
            <a:off x="635000" y="8382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Course Materials — Day 1 Full Guide, Section 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5240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27000"/>
            <a:ext cx="50800" cy="685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87400" y="152400"/>
            <a:ext cx="146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264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Mastering core concepts from ingestion to observability enables production-grade data systems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35000" y="8636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965200"/>
            <a:ext cx="482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8" name="Text 6"/>
          <p:cNvSpPr/>
          <p:nvPr/>
        </p:nvSpPr>
        <p:spPr>
          <a:xfrm>
            <a:off x="736600" y="965200"/>
            <a:ext cx="469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Concepts (1/2)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6600" y="1320800"/>
            <a:ext cx="46228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 System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Any system producing data (OLTP DBs, APIs, files, events). Extraction strategy depends on source characteristics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Ingestion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Controlled process of receiving data. Bad design creates duplicates or missing data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Schema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Structure and expected types. Mismatches are a top pipeline failure mode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Zone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Landing area with minimal transformation. Preserves traceability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Transformation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Cleaning, standardizing, validating, enriching raw data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Model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Organized design for storage. Good modeling improves performance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Fact / Dimension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Facts store measurements; dimensions provide context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15000" y="965200"/>
            <a:ext cx="482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1" name="Shape 9"/>
          <p:cNvSpPr/>
          <p:nvPr/>
        </p:nvSpPr>
        <p:spPr>
          <a:xfrm>
            <a:off x="571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2" name="Text 10"/>
          <p:cNvSpPr/>
          <p:nvPr/>
        </p:nvSpPr>
        <p:spPr>
          <a:xfrm>
            <a:off x="5816600" y="965200"/>
            <a:ext cx="469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Concepts (2/2)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16600" y="1320800"/>
            <a:ext cx="46228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Grain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Level of detail per row. The most important warehousing design decision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Partitioning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Splitting data logically (by date/category). Improves performance and cost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Idempotency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Safe rerun without corrupting outcomes. Critical for recovery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Lineage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Traceability from source to output. Supports trust and debugging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Observability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Monitoring health, freshness, throughput. Enables fast resolution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Quality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Rules determining fitness for use. Prevents silent errors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Governance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Policies ensuring security and usability. Prevents compliance failure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795000" y="965200"/>
            <a:ext cx="482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5" name="Shape 13"/>
          <p:cNvSpPr/>
          <p:nvPr/>
        </p:nvSpPr>
        <p:spPr>
          <a:xfrm>
            <a:off x="1079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6" name="Text 14"/>
          <p:cNvSpPr/>
          <p:nvPr/>
        </p:nvSpPr>
        <p:spPr>
          <a:xfrm>
            <a:off x="10896600" y="965200"/>
            <a:ext cx="469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Production-Ready Checklist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896600" y="1320800"/>
            <a:ext cx="46228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Reliable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executes predictably, communicates failures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handles growth in volume and complexity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Maintainable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modular logic, readable code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Observable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logs, metrics, lineage, alerts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least privilege, encryption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Testable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quality checks, reconciliation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Recoverable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replay, reprocessing, safe reruns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Cost-efficient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intelligent storage and compute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000" y="5080000"/>
            <a:ext cx="14986000" cy="6096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Text 17"/>
          <p:cNvSpPr/>
          <p:nvPr/>
        </p:nvSpPr>
        <p:spPr>
          <a:xfrm>
            <a:off x="838200" y="5080000"/>
            <a:ext cx="1460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Principle:</a:t>
            </a:r>
            <a:pPr algn="l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Data engineering is a system of responsibilities — not a single task. These concepts appear repeatedly in ETL, SQL, warehousing, and pipeline design.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5000" y="5892800"/>
            <a:ext cx="1498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35000" y="58928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2" name="Text 20"/>
          <p:cNvSpPr/>
          <p:nvPr/>
        </p:nvSpPr>
        <p:spPr>
          <a:xfrm>
            <a:off x="736600" y="58928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Engineering Lifecycle — From Source to Consumption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5000" y="6273800"/>
            <a:ext cx="2794000" cy="18796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4" name="Shape 22"/>
          <p:cNvSpPr/>
          <p:nvPr/>
        </p:nvSpPr>
        <p:spPr>
          <a:xfrm>
            <a:off x="635000" y="6273800"/>
            <a:ext cx="2794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5" name="Text 23"/>
          <p:cNvSpPr/>
          <p:nvPr/>
        </p:nvSpPr>
        <p:spPr>
          <a:xfrm>
            <a:off x="736600" y="6400800"/>
            <a:ext cx="2590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Source Systems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6600" y="6731000"/>
            <a:ext cx="25908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OLTP databases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APIs and SaaS apps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Files and event streams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Partner data feeds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54400" y="7162800"/>
            <a:ext cx="2540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28" name="Shape 26"/>
          <p:cNvSpPr/>
          <p:nvPr/>
        </p:nvSpPr>
        <p:spPr>
          <a:xfrm>
            <a:off x="3733800" y="6273800"/>
            <a:ext cx="2794000" cy="18796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9" name="Shape 27"/>
          <p:cNvSpPr/>
          <p:nvPr/>
        </p:nvSpPr>
        <p:spPr>
          <a:xfrm>
            <a:off x="3733800" y="6273800"/>
            <a:ext cx="2794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0" name="Text 28"/>
          <p:cNvSpPr/>
          <p:nvPr/>
        </p:nvSpPr>
        <p:spPr>
          <a:xfrm>
            <a:off x="3835400" y="6400800"/>
            <a:ext cx="2590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Ingestion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835400" y="6731000"/>
            <a:ext cx="25908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Batch extraction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CDC streams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API polling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Event capture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53200" y="7162800"/>
            <a:ext cx="2540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33" name="Shape 31"/>
          <p:cNvSpPr/>
          <p:nvPr/>
        </p:nvSpPr>
        <p:spPr>
          <a:xfrm>
            <a:off x="6832600" y="6273800"/>
            <a:ext cx="2794000" cy="18796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34" name="Shape 32"/>
          <p:cNvSpPr/>
          <p:nvPr/>
        </p:nvSpPr>
        <p:spPr>
          <a:xfrm>
            <a:off x="6832600" y="6273800"/>
            <a:ext cx="2794000" cy="50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35" name="Text 33"/>
          <p:cNvSpPr/>
          <p:nvPr/>
        </p:nvSpPr>
        <p:spPr>
          <a:xfrm>
            <a:off x="6934200" y="6400800"/>
            <a:ext cx="2590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996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Transform &amp; Model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34200" y="6731000"/>
            <a:ext cx="25908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Cleansing &amp; standardizing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Dimensional modeling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Quality validation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SCD management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652000" y="7162800"/>
            <a:ext cx="2540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38" name="Shape 36"/>
          <p:cNvSpPr/>
          <p:nvPr/>
        </p:nvSpPr>
        <p:spPr>
          <a:xfrm>
            <a:off x="9931400" y="6273800"/>
            <a:ext cx="2794000" cy="18796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39" name="Shape 37"/>
          <p:cNvSpPr/>
          <p:nvPr/>
        </p:nvSpPr>
        <p:spPr>
          <a:xfrm>
            <a:off x="9931400" y="6273800"/>
            <a:ext cx="2794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0" name="Text 38"/>
          <p:cNvSpPr/>
          <p:nvPr/>
        </p:nvSpPr>
        <p:spPr>
          <a:xfrm>
            <a:off x="10033000" y="6400800"/>
            <a:ext cx="2590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Curated Layer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0033000" y="6731000"/>
            <a:ext cx="25908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Facts &amp; dimensions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Data marts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Semantic models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Governance &amp; catalog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2750800" y="7162800"/>
            <a:ext cx="2540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43" name="Shape 41"/>
          <p:cNvSpPr/>
          <p:nvPr/>
        </p:nvSpPr>
        <p:spPr>
          <a:xfrm>
            <a:off x="13030200" y="6273800"/>
            <a:ext cx="2590800" cy="1879600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44" name="Shape 42"/>
          <p:cNvSpPr/>
          <p:nvPr/>
        </p:nvSpPr>
        <p:spPr>
          <a:xfrm>
            <a:off x="13030200" y="6273800"/>
            <a:ext cx="2590800" cy="50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5" name="Text 43"/>
          <p:cNvSpPr/>
          <p:nvPr/>
        </p:nvSpPr>
        <p:spPr>
          <a:xfrm>
            <a:off x="13131800" y="6400800"/>
            <a:ext cx="23876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Consumption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3131800" y="6731000"/>
            <a:ext cx="23876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BI dashboards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ML &amp; analytics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Reports &amp; APIs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Reverse ETL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35000" y="83312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48" name="Text 46"/>
          <p:cNvSpPr/>
          <p:nvPr/>
        </p:nvSpPr>
        <p:spPr>
          <a:xfrm>
            <a:off x="635000" y="8432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Course Materials — Day 1 Supplement, Section 3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5240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27000"/>
            <a:ext cx="50800" cy="685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87400" y="152400"/>
            <a:ext cx="146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264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OLTP and OLAP serve fundamentally different purposes, requiring dedicated pipeline architectures to bridge them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35000" y="8636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965200"/>
            <a:ext cx="7493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8" name="Text 6"/>
          <p:cNvSpPr/>
          <p:nvPr/>
        </p:nvSpPr>
        <p:spPr>
          <a:xfrm>
            <a:off x="736600" y="965200"/>
            <a:ext cx="736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OLTP vs OLAP — Architectural Comparison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1295400"/>
          <a:ext cx="7493000" cy="3048000"/>
        </p:xfrm>
        <a:graphic>
          <a:graphicData uri="http://schemas.openxmlformats.org/drawingml/2006/table">
            <a:tbl>
              <a:tblPr/>
              <a:tblGrid>
                <a:gridCol w="1873250"/>
                <a:gridCol w="2809875"/>
                <a:gridCol w="2809875"/>
              </a:tblGrid>
              <a:tr h="43586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Characteristic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OLTP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OLAP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35864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Purpose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Run business transactions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Support analysis &amp; reporting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5864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 Pattern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Current-state records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Historical &amp; aggregated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35864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Query Pattern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Small reads/writes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Large scans, joins, aggregates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5864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Schema Style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Normalized (3NF)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Denormalized / dimensional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35864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Latency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Very low (milliseconds)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Seconds to minutes acceptable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81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Examples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Checkout, booking, payments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Revenue trends, segmentation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255000" y="965200"/>
            <a:ext cx="736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1" name="Shape 8"/>
          <p:cNvSpPr/>
          <p:nvPr/>
        </p:nvSpPr>
        <p:spPr>
          <a:xfrm>
            <a:off x="825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2" name="Text 9"/>
          <p:cNvSpPr/>
          <p:nvPr/>
        </p:nvSpPr>
        <p:spPr>
          <a:xfrm>
            <a:off x="8356600" y="965200"/>
            <a:ext cx="723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Paradigms</a:t>
            </a:r>
            <a:endParaRPr lang="en-US" sz="13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0" y="1295400"/>
          <a:ext cx="7366000" cy="3048000"/>
        </p:xfrm>
        <a:graphic>
          <a:graphicData uri="http://schemas.openxmlformats.org/drawingml/2006/table">
            <a:tbl>
              <a:tblPr/>
              <a:tblGrid>
                <a:gridCol w="1620520"/>
                <a:gridCol w="2946400"/>
                <a:gridCol w="2799080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Type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Definition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Examples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Structured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Fixed schema, rows &amp; columns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Orders, Customers tables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Semi-Structured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Implicit structure, flexible rules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JSON events, XML feeds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Unstructured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 rigid schema, needs processing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PDFs, logs, transcripts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635000" y="4521200"/>
            <a:ext cx="1498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5" name="Shape 11"/>
          <p:cNvSpPr/>
          <p:nvPr/>
        </p:nvSpPr>
        <p:spPr>
          <a:xfrm>
            <a:off x="635000" y="4521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6" name="Text 12"/>
          <p:cNvSpPr/>
          <p:nvPr/>
        </p:nvSpPr>
        <p:spPr>
          <a:xfrm>
            <a:off x="736600" y="45212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Typical Data Flow: From OLTP to OLAP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35000" y="4927600"/>
            <a:ext cx="2540000" cy="1016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8" name="Shape 14"/>
          <p:cNvSpPr/>
          <p:nvPr/>
        </p:nvSpPr>
        <p:spPr>
          <a:xfrm>
            <a:off x="635000" y="4927600"/>
            <a:ext cx="2540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Text 15"/>
          <p:cNvSpPr/>
          <p:nvPr/>
        </p:nvSpPr>
        <p:spPr>
          <a:xfrm>
            <a:off x="736600" y="5029200"/>
            <a:ext cx="2336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Customer App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POS, Booking, CRM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3200400" y="5384800"/>
            <a:ext cx="3810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21" name="Shape 17"/>
          <p:cNvSpPr/>
          <p:nvPr/>
        </p:nvSpPr>
        <p:spPr>
          <a:xfrm>
            <a:off x="3606800" y="4927600"/>
            <a:ext cx="2540000" cy="1016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2" name="Shape 18"/>
          <p:cNvSpPr/>
          <p:nvPr/>
        </p:nvSpPr>
        <p:spPr>
          <a:xfrm>
            <a:off x="3606800" y="4927600"/>
            <a:ext cx="2540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3" name="Text 19"/>
          <p:cNvSpPr/>
          <p:nvPr/>
        </p:nvSpPr>
        <p:spPr>
          <a:xfrm>
            <a:off x="3708400" y="5029200"/>
            <a:ext cx="2336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OLTP Database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Transactional store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6172200" y="5384800"/>
            <a:ext cx="3810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25" name="Shape 21"/>
          <p:cNvSpPr/>
          <p:nvPr/>
        </p:nvSpPr>
        <p:spPr>
          <a:xfrm>
            <a:off x="6578600" y="4927600"/>
            <a:ext cx="2540000" cy="1016000"/>
          </a:xfrm>
          <a:prstGeom prst="rect">
            <a:avLst/>
          </a:prstGeom>
          <a:solidFill>
            <a:srgbClr val="FEF6E8"/>
          </a:solidFill>
          <a:ln/>
        </p:spPr>
      </p:sp>
      <p:sp>
        <p:nvSpPr>
          <p:cNvPr id="26" name="Shape 22"/>
          <p:cNvSpPr/>
          <p:nvPr/>
        </p:nvSpPr>
        <p:spPr>
          <a:xfrm>
            <a:off x="6578600" y="4927600"/>
            <a:ext cx="2540000" cy="50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7" name="Text 23"/>
          <p:cNvSpPr/>
          <p:nvPr/>
        </p:nvSpPr>
        <p:spPr>
          <a:xfrm>
            <a:off x="6680200" y="5029200"/>
            <a:ext cx="2336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C996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CDC / Extract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Engineering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9144000" y="5384800"/>
            <a:ext cx="3810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29" name="Shape 25"/>
          <p:cNvSpPr/>
          <p:nvPr/>
        </p:nvSpPr>
        <p:spPr>
          <a:xfrm>
            <a:off x="9550400" y="4927600"/>
            <a:ext cx="2540000" cy="1016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30" name="Shape 26"/>
          <p:cNvSpPr/>
          <p:nvPr/>
        </p:nvSpPr>
        <p:spPr>
          <a:xfrm>
            <a:off x="9550400" y="4927600"/>
            <a:ext cx="2540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1" name="Text 27"/>
          <p:cNvSpPr/>
          <p:nvPr/>
        </p:nvSpPr>
        <p:spPr>
          <a:xfrm>
            <a:off x="9652000" y="5029200"/>
            <a:ext cx="2336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Raw Landing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Minimal transform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12115800" y="5384800"/>
            <a:ext cx="3810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33" name="Shape 29"/>
          <p:cNvSpPr/>
          <p:nvPr/>
        </p:nvSpPr>
        <p:spPr>
          <a:xfrm>
            <a:off x="12522200" y="4927600"/>
            <a:ext cx="3098800" cy="1016000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34" name="Shape 30"/>
          <p:cNvSpPr/>
          <p:nvPr/>
        </p:nvSpPr>
        <p:spPr>
          <a:xfrm>
            <a:off x="12522200" y="4927600"/>
            <a:ext cx="3098800" cy="50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35" name="Text 31"/>
          <p:cNvSpPr/>
          <p:nvPr/>
        </p:nvSpPr>
        <p:spPr>
          <a:xfrm>
            <a:off x="12623800" y="5029200"/>
            <a:ext cx="2895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OLAP Warehouse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Dashboards &amp; Analytics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635000" y="6146800"/>
            <a:ext cx="149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Principle: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Data engineering exists to move information safely and efficiently from the OLTP world to the OLAP world. The CDC/Extract step is where the Data Engineer's work begins — capturing changes without impacting operational systems.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635000" y="6807200"/>
            <a:ext cx="1498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38" name="Shape 34"/>
          <p:cNvSpPr/>
          <p:nvPr/>
        </p:nvSpPr>
        <p:spPr>
          <a:xfrm>
            <a:off x="635000" y="6807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39" name="Text 35"/>
          <p:cNvSpPr/>
          <p:nvPr/>
        </p:nvSpPr>
        <p:spPr>
          <a:xfrm>
            <a:off x="736600" y="68072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Separation Matters</a:t>
            </a:r>
            <a:endParaRPr lang="en-US" sz="1300" dirty="0"/>
          </a:p>
        </p:txBody>
      </p:sp>
      <p:sp>
        <p:nvSpPr>
          <p:cNvPr id="40" name="Text 36"/>
          <p:cNvSpPr/>
          <p:nvPr/>
        </p:nvSpPr>
        <p:spPr>
          <a:xfrm>
            <a:off x="736600" y="7162800"/>
            <a:ext cx="1485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Running analytical queries directly on OLTP systems degrades transaction performance and risks operational stability; ■ OLTP schemas are optimized for consistency (3NF), not for the complex joins and aggregations that analytics requires; ■ Historical trending and time-series analysis require data snapshots that transactional systems do not maintain; ■ A dedicated pipeline layer enables data quality checks, governance enforcement, and schema evolution management before data reaches consumers</a:t>
            </a:r>
            <a:endParaRPr lang="en-US" sz="1300" dirty="0"/>
          </a:p>
        </p:txBody>
      </p:sp>
      <p:sp>
        <p:nvSpPr>
          <p:cNvPr id="41" name="Shape 37"/>
          <p:cNvSpPr/>
          <p:nvPr/>
        </p:nvSpPr>
        <p:spPr>
          <a:xfrm>
            <a:off x="635000" y="83312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42" name="Text 38"/>
          <p:cNvSpPr/>
          <p:nvPr/>
        </p:nvSpPr>
        <p:spPr>
          <a:xfrm>
            <a:off x="635000" y="8432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Course Materials — Day 1 Full Guide, Sections 6-7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15240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27000"/>
            <a:ext cx="50800" cy="685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87400" y="152400"/>
            <a:ext cx="146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264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Production-ready pipelines come in multiple forms, and the right pattern depends on latency, scale, and business need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35000" y="8636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965200"/>
            <a:ext cx="1498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8" name="Text 6"/>
          <p:cNvSpPr/>
          <p:nvPr/>
        </p:nvSpPr>
        <p:spPr>
          <a:xfrm>
            <a:off x="736600" y="9652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Types — Description, Use Cases, and Operational Considerations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1295400"/>
          <a:ext cx="14986000" cy="3937000"/>
        </p:xfrm>
        <a:graphic>
          <a:graphicData uri="http://schemas.openxmlformats.org/drawingml/2006/table">
            <a:tbl>
              <a:tblPr/>
              <a:tblGrid>
                <a:gridCol w="2247900"/>
                <a:gridCol w="4495800"/>
                <a:gridCol w="4495800"/>
                <a:gridCol w="3746500"/>
              </a:tblGrid>
              <a:tr h="49212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Type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Description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Typical Use Case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Considerations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Batch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Scheduled intervals (hourly/nightly)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Financial reporting, daily snapshots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Simpler to operate; higher latency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Micro-Batch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Frequent small batches (minutes)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Near real-time dashboards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More scheduling complexity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Streaming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Continuous event processing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Fraud detection, clickstream, IoT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Handles disorder, late data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CDC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Capture inserts/updates/deletes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Replicating OLTP changes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Requires ordering, delete handling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ETL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Transform before loading to target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Legacy integration patterns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Target stays cleaner; less flexibility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ELT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Load raw, transform in target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Cloud warehouses, lakehouses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Needs raw-zone governance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Reverse ETL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Push analytics back to ops tools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CRM enrichment, activation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Must prevent misuse/staleness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35000" y="5410200"/>
            <a:ext cx="7493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1" name="Shape 8"/>
          <p:cNvSpPr/>
          <p:nvPr/>
        </p:nvSpPr>
        <p:spPr>
          <a:xfrm>
            <a:off x="635000" y="5410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2" name="Text 9"/>
          <p:cNvSpPr/>
          <p:nvPr/>
        </p:nvSpPr>
        <p:spPr>
          <a:xfrm>
            <a:off x="736600" y="5410200"/>
            <a:ext cx="736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Generic Pipeline Landscape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6600" y="5765800"/>
            <a:ext cx="72644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Domain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Databases, APIs, files, streams, partner feeds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Domain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Extraction, parsing, cleansing, validation, transformation, modeling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 Domain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Warehouse tables, marts, dashboards, ML features, APIs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55000" y="5410200"/>
            <a:ext cx="736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5" name="Shape 12"/>
          <p:cNvSpPr/>
          <p:nvPr/>
        </p:nvSpPr>
        <p:spPr>
          <a:xfrm>
            <a:off x="8255000" y="5410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6" name="Text 13"/>
          <p:cNvSpPr/>
          <p:nvPr/>
        </p:nvSpPr>
        <p:spPr>
          <a:xfrm>
            <a:off x="8356600" y="5410200"/>
            <a:ext cx="723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 Characteristics of Production-Ready Pipelines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356600" y="5765800"/>
            <a:ext cx="71374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Reliable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predictable execution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handles growth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Maintainable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modular, documented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Observable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logs, metrics, alerts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least privilege access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Testable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quality checks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Recoverable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safe reruns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Cost-efficient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optimized resources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35000" y="83312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19" name="Text 16"/>
          <p:cNvSpPr/>
          <p:nvPr/>
        </p:nvSpPr>
        <p:spPr>
          <a:xfrm>
            <a:off x="635000" y="8432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Course Materials — Day 1 Supplement, Sections 4-5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5240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27000"/>
            <a:ext cx="50800" cy="685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87400" y="152400"/>
            <a:ext cx="146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264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ELT has emerged as the dominant modern pattern because cloud platforms enable raw-data-first transformation at scale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35000" y="8636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965200"/>
            <a:ext cx="7493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8" name="Text 6"/>
          <p:cNvSpPr/>
          <p:nvPr/>
        </p:nvSpPr>
        <p:spPr>
          <a:xfrm>
            <a:off x="736600" y="965200"/>
            <a:ext cx="736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ETL vs ELT — Dimensional Comparison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1295400"/>
          <a:ext cx="7493000" cy="2286000"/>
        </p:xfrm>
        <a:graphic>
          <a:graphicData uri="http://schemas.openxmlformats.org/drawingml/2006/table">
            <a:tbl>
              <a:tblPr/>
              <a:tblGrid>
                <a:gridCol w="2247900"/>
                <a:gridCol w="2622550"/>
                <a:gridCol w="262255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Dimension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ETL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ELT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Transformation Timing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Before loading to target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After loading to target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Raw Data Retention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Not always central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Often a core principle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Flexibility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Lower if transform too early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Higher — raw data retained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Common Environment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Legacy integration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Cloud analytical platforms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255000" y="965200"/>
            <a:ext cx="736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1" name="Shape 8"/>
          <p:cNvSpPr/>
          <p:nvPr/>
        </p:nvSpPr>
        <p:spPr>
          <a:xfrm>
            <a:off x="825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2" name="Text 9"/>
          <p:cNvSpPr/>
          <p:nvPr/>
        </p:nvSpPr>
        <p:spPr>
          <a:xfrm>
            <a:off x="8356600" y="965200"/>
            <a:ext cx="723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ELT Became the Dominant Pattern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356600" y="1320800"/>
            <a:ext cx="7137400" cy="226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platforms provide scalable compute close to storage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Separation of storage and compute allows flexible workload management without data movement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SQL-based transformations are easier to govern centrally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transformation logic is visible, version-controlled, and auditable within the warehouse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data retention enables replay and new use cases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Keeping raw data supports debugging, recalculation, and future analytics without re-extraction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35000" y="3784600"/>
            <a:ext cx="1498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5" name="Shape 12"/>
          <p:cNvSpPr/>
          <p:nvPr/>
        </p:nvSpPr>
        <p:spPr>
          <a:xfrm>
            <a:off x="635000" y="37846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6" name="Text 13"/>
          <p:cNvSpPr/>
          <p:nvPr/>
        </p:nvSpPr>
        <p:spPr>
          <a:xfrm>
            <a:off x="736600" y="37846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ELT Pipeline Architecture — From Source to Curated Models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35000" y="4165600"/>
            <a:ext cx="2540000" cy="1270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8" name="Shape 15"/>
          <p:cNvSpPr/>
          <p:nvPr/>
        </p:nvSpPr>
        <p:spPr>
          <a:xfrm>
            <a:off x="635000" y="4165600"/>
            <a:ext cx="2540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711200" y="4267200"/>
            <a:ext cx="23876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Source Systems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DBs, APIs, Files, Events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200400" y="4749800"/>
            <a:ext cx="3048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21" name="Shape 18"/>
          <p:cNvSpPr/>
          <p:nvPr/>
        </p:nvSpPr>
        <p:spPr>
          <a:xfrm>
            <a:off x="3530600" y="4165600"/>
            <a:ext cx="2286000" cy="1270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2" name="Shape 19"/>
          <p:cNvSpPr/>
          <p:nvPr/>
        </p:nvSpPr>
        <p:spPr>
          <a:xfrm>
            <a:off x="3530600" y="4165600"/>
            <a:ext cx="228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3" name="Text 20"/>
          <p:cNvSpPr/>
          <p:nvPr/>
        </p:nvSpPr>
        <p:spPr>
          <a:xfrm>
            <a:off x="3606800" y="4267200"/>
            <a:ext cx="21336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Extract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/ Incremental / CDC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842000" y="4749800"/>
            <a:ext cx="3048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25" name="Shape 22"/>
          <p:cNvSpPr/>
          <p:nvPr/>
        </p:nvSpPr>
        <p:spPr>
          <a:xfrm>
            <a:off x="6172200" y="4165600"/>
            <a:ext cx="2286000" cy="1270000"/>
          </a:xfrm>
          <a:prstGeom prst="rect">
            <a:avLst/>
          </a:prstGeom>
          <a:solidFill>
            <a:srgbClr val="FEF6E8"/>
          </a:solidFill>
          <a:ln/>
        </p:spPr>
      </p:sp>
      <p:sp>
        <p:nvSpPr>
          <p:cNvPr id="26" name="Shape 23"/>
          <p:cNvSpPr/>
          <p:nvPr/>
        </p:nvSpPr>
        <p:spPr>
          <a:xfrm>
            <a:off x="6172200" y="4165600"/>
            <a:ext cx="2286000" cy="50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7" name="Text 24"/>
          <p:cNvSpPr/>
          <p:nvPr/>
        </p:nvSpPr>
        <p:spPr>
          <a:xfrm>
            <a:off x="6248400" y="4267200"/>
            <a:ext cx="21336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C996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Load to Raw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metadata &amp; batch IDs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8483600" y="4749800"/>
            <a:ext cx="3048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29" name="Shape 26"/>
          <p:cNvSpPr/>
          <p:nvPr/>
        </p:nvSpPr>
        <p:spPr>
          <a:xfrm>
            <a:off x="8813800" y="4165600"/>
            <a:ext cx="2286000" cy="1270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30" name="Shape 27"/>
          <p:cNvSpPr/>
          <p:nvPr/>
        </p:nvSpPr>
        <p:spPr>
          <a:xfrm>
            <a:off x="8813800" y="4165600"/>
            <a:ext cx="228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1" name="Text 28"/>
          <p:cNvSpPr/>
          <p:nvPr/>
        </p:nvSpPr>
        <p:spPr>
          <a:xfrm>
            <a:off x="8890000" y="4267200"/>
            <a:ext cx="21336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Transform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in warehouse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11125200" y="4749800"/>
            <a:ext cx="3048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33" name="Shape 30"/>
          <p:cNvSpPr/>
          <p:nvPr/>
        </p:nvSpPr>
        <p:spPr>
          <a:xfrm>
            <a:off x="11455400" y="4165600"/>
            <a:ext cx="2286000" cy="1270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34" name="Shape 31"/>
          <p:cNvSpPr/>
          <p:nvPr/>
        </p:nvSpPr>
        <p:spPr>
          <a:xfrm>
            <a:off x="11455400" y="4165600"/>
            <a:ext cx="228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5" name="Text 32"/>
          <p:cNvSpPr/>
          <p:nvPr/>
        </p:nvSpPr>
        <p:spPr>
          <a:xfrm>
            <a:off x="11531600" y="4267200"/>
            <a:ext cx="21336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Curated Marts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Business-ready models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13766800" y="4749800"/>
            <a:ext cx="3048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37" name="Shape 34"/>
          <p:cNvSpPr/>
          <p:nvPr/>
        </p:nvSpPr>
        <p:spPr>
          <a:xfrm>
            <a:off x="14097000" y="4165600"/>
            <a:ext cx="1524000" cy="1270000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38" name="Shape 35"/>
          <p:cNvSpPr/>
          <p:nvPr/>
        </p:nvSpPr>
        <p:spPr>
          <a:xfrm>
            <a:off x="14097000" y="4165600"/>
            <a:ext cx="1524000" cy="50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39" name="Text 36"/>
          <p:cNvSpPr/>
          <p:nvPr/>
        </p:nvSpPr>
        <p:spPr>
          <a:xfrm>
            <a:off x="14147800" y="4267200"/>
            <a:ext cx="14224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Consume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 / ML / APIs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635000" y="5638800"/>
            <a:ext cx="1498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41" name="Shape 38"/>
          <p:cNvSpPr/>
          <p:nvPr/>
        </p:nvSpPr>
        <p:spPr>
          <a:xfrm>
            <a:off x="635000" y="56388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2" name="Text 39"/>
          <p:cNvSpPr/>
          <p:nvPr/>
        </p:nvSpPr>
        <p:spPr>
          <a:xfrm>
            <a:off x="736600" y="56388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ELT Design Principles for Production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736600" y="5994400"/>
            <a:ext cx="14859000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 a raw layer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enough source fidelity for audit and reprocessing — this is the strategic advantage of ELT; 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a standardized intermediate layer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before business-facing marts to isolate source changes from consumer impact; 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Track batch IDs, watermarks, and run IDs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full traceability across every pipeline execution; 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every layer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schema, nullability, uniqueness, referential integrity, accepted values, freshness; 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for idempotency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so reruns do not create duplicates or broken history; 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 sensitive data in all layers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including raw tables — security is not an afterthought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635000" y="83312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45" name="Text 42"/>
          <p:cNvSpPr/>
          <p:nvPr/>
        </p:nvSpPr>
        <p:spPr>
          <a:xfrm>
            <a:off x="635000" y="8432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Course Materials — Day 1 Supplement, Section 6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5240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3" name="Text 1"/>
          <p:cNvSpPr/>
          <p:nvPr/>
        </p:nvSpPr>
        <p:spPr>
          <a:xfrm>
            <a:off x="10414000" y="2794000"/>
            <a:ext cx="5588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0" b="1" dirty="0">
                <a:solidFill>
                  <a:srgbClr val="FFFFFF">
                    <a:alpha val="10196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02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1016000" y="25400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spc="200" kern="0" dirty="0">
                <a:solidFill>
                  <a:srgbClr val="FFFFFF">
                    <a:alpha val="5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16000" y="3048000"/>
            <a:ext cx="1524000" cy="25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3302000"/>
            <a:ext cx="1143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Advanced SQL for Data Manipulation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16000" y="43180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>
                    <a:alpha val="7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Querying, Transformation, Validation &amp; Warehouse Loading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6000" y="4953000"/>
            <a:ext cx="990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Mastering SQL as the primary language for data extraction, transformation, validation, and incremental warehouse loading in modern ELT environments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9080500"/>
            <a:ext cx="16256000" cy="63500"/>
          </a:xfrm>
          <a:prstGeom prst="rect">
            <a:avLst/>
          </a:prstGeom>
          <a:solidFill>
            <a:srgbClr val="C9963B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27000"/>
            <a:ext cx="50800" cy="685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87400" y="152400"/>
            <a:ext cx="146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264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SQL is the universal language of data engineering, spanning querying, manipulation, definition, and control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35000" y="8636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965200"/>
            <a:ext cx="1498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8" name="Text 6"/>
          <p:cNvSpPr/>
          <p:nvPr/>
        </p:nvSpPr>
        <p:spPr>
          <a:xfrm>
            <a:off x="736600" y="9652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Five SQL Categories in Data Engineering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1295400"/>
          <a:ext cx="14986000" cy="2667000"/>
        </p:xfrm>
        <a:graphic>
          <a:graphicData uri="http://schemas.openxmlformats.org/drawingml/2006/table">
            <a:tbl>
              <a:tblPr/>
              <a:tblGrid>
                <a:gridCol w="1798320"/>
                <a:gridCol w="3296920"/>
                <a:gridCol w="4495800"/>
                <a:gridCol w="539496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Category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Full Name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Key Statements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 Engineering Use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DQL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 Query Language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SELECT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Read, inspect, validate, analyze data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DML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 Manipulation Language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INSERT, UPDATE, DELETE, MERGE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Load and maintain warehouse data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DDL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 Definition Language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CREATE, ALTER, DROP, TRUNCATE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Define schemas, tables, views, stages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DCL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 Control Language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GRANT, REVOKE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Manage access and security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35000" y="4140200"/>
            <a:ext cx="7493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1" name="Shape 8"/>
          <p:cNvSpPr/>
          <p:nvPr/>
        </p:nvSpPr>
        <p:spPr>
          <a:xfrm>
            <a:off x="635000" y="4140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2" name="Text 9"/>
          <p:cNvSpPr/>
          <p:nvPr/>
        </p:nvSpPr>
        <p:spPr>
          <a:xfrm>
            <a:off x="736600" y="4140200"/>
            <a:ext cx="736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DQL: Extraction with Watermark Filters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5000" y="4470400"/>
            <a:ext cx="7493000" cy="1778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4" name="Text 11"/>
          <p:cNvSpPr/>
          <p:nvPr/>
        </p:nvSpPr>
        <p:spPr>
          <a:xfrm>
            <a:off x="736600" y="4546600"/>
            <a:ext cx="72898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Extraction with watermark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 order_id, customer_id,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order_date, total_amount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sales.orders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order_status = 'COMPLETED'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AND order_date &gt;= DATE '2026-01-01';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35000" y="6299200"/>
            <a:ext cx="749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practices: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Explicitly list columns, use watermark or CDC for large tables, capture source metadata (extraction timestamp, batch ID)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55000" y="4140200"/>
            <a:ext cx="736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7" name="Shape 14"/>
          <p:cNvSpPr/>
          <p:nvPr/>
        </p:nvSpPr>
        <p:spPr>
          <a:xfrm>
            <a:off x="8255000" y="4140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8" name="Text 15"/>
          <p:cNvSpPr/>
          <p:nvPr/>
        </p:nvSpPr>
        <p:spPr>
          <a:xfrm>
            <a:off x="8356600" y="4140200"/>
            <a:ext cx="723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Profiling and Validation Patterns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356600" y="4495800"/>
            <a:ext cx="71374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profiling with DQL: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Check null rates per column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Identify duplicate business keys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Estimate data volume and distribution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Validate assumptions before modeling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Reconciliation queries: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Compare source and target populations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Verify row counts and measure totals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35000" y="7061200"/>
            <a:ext cx="1498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1" name="Shape 18"/>
          <p:cNvSpPr/>
          <p:nvPr/>
        </p:nvSpPr>
        <p:spPr>
          <a:xfrm>
            <a:off x="635000" y="7061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2" name="Text 19"/>
          <p:cNvSpPr/>
          <p:nvPr/>
        </p:nvSpPr>
        <p:spPr>
          <a:xfrm>
            <a:off x="736600" y="70612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Principle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6600" y="7416800"/>
            <a:ext cx="1485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ELT environments, SQL is the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transformation language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Data Engineers use SQL not only to query data but also to validate, manipulate, and load data into analytical structures. Mastering all five SQL categories is essential for production-grade data engineering.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35000" y="83312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25" name="Text 22"/>
          <p:cNvSpPr/>
          <p:nvPr/>
        </p:nvSpPr>
        <p:spPr>
          <a:xfrm>
            <a:off x="635000" y="8432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Course Materials — Day 1 Full Guide, Section 11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5240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27000"/>
            <a:ext cx="50800" cy="685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87400" y="152400"/>
            <a:ext cx="146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264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DML and DDL operations form the backbone of warehouse data loading and structural management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35000" y="8636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965200"/>
            <a:ext cx="7493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8" name="Text 6"/>
          <p:cNvSpPr/>
          <p:nvPr/>
        </p:nvSpPr>
        <p:spPr>
          <a:xfrm>
            <a:off x="736600" y="965200"/>
            <a:ext cx="736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DML: Stage Loading with INSERT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000" y="1295400"/>
            <a:ext cx="7493000" cy="2032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0" name="Text 8"/>
          <p:cNvSpPr/>
          <p:nvPr/>
        </p:nvSpPr>
        <p:spPr>
          <a:xfrm>
            <a:off x="736600" y="1371600"/>
            <a:ext cx="72898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Stage load from extracted data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INTO stage_orders (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order_id, customer_id, order_date,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total_amount, ingestion_ts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 order_id, customer_id,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order_date, total_amount, CURRENT_TIMESTAMP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ext_orders WHERE batch_id = 20260618;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55000" y="965200"/>
            <a:ext cx="736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2" name="Shape 10"/>
          <p:cNvSpPr/>
          <p:nvPr/>
        </p:nvSpPr>
        <p:spPr>
          <a:xfrm>
            <a:off x="825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3" name="Text 11"/>
          <p:cNvSpPr/>
          <p:nvPr/>
        </p:nvSpPr>
        <p:spPr>
          <a:xfrm>
            <a:off x="8356600" y="965200"/>
            <a:ext cx="723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DML: MERGE / UPSERT for Incremental Loading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55000" y="1295400"/>
            <a:ext cx="7366000" cy="2032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8356600" y="1371600"/>
            <a:ext cx="71628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Incremental fact load with MERGE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MERGE INTO dw.fact_orders AS tgt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stage_orders AS src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 tgt.order_id = src.order_id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MATCHED THEN UPDATE SET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tgt.total_amount = src.total_amount,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tgt.updated_at = CURRENT_TIMESTAMP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NOT MATCHED THEN INSERT (...);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000" y="3505200"/>
            <a:ext cx="7493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000" y="350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8" name="Text 16"/>
          <p:cNvSpPr/>
          <p:nvPr/>
        </p:nvSpPr>
        <p:spPr>
          <a:xfrm>
            <a:off x="736600" y="3505200"/>
            <a:ext cx="736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DDL: Creating Dimension Tables with SCD Support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000" y="3835400"/>
            <a:ext cx="7493000" cy="2032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736600" y="3911600"/>
            <a:ext cx="72898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SCD Type 2 dimension structure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TABLE dw.dim_customer (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customer_sk BIGINT PRIMARY KEY,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customer_id VARCHAR(50),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customer_name VARCHAR(200),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customer_city VARCHAR(100),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effective_start_date DATE,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effective_end_date DATE,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current_flag CHAR(1)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55000" y="3505200"/>
            <a:ext cx="736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2" name="Shape 20"/>
          <p:cNvSpPr/>
          <p:nvPr/>
        </p:nvSpPr>
        <p:spPr>
          <a:xfrm>
            <a:off x="8255000" y="350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3" name="Text 21"/>
          <p:cNvSpPr/>
          <p:nvPr/>
        </p:nvSpPr>
        <p:spPr>
          <a:xfrm>
            <a:off x="8356600" y="3505200"/>
            <a:ext cx="723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Staged Loading Pattern — The 6-Step Process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56600" y="3860800"/>
            <a:ext cx="7137400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Load extracted data into staging tables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Validate: detect duplicates, null violations, bad codes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Standardize: timestamps, currencies, codes, references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Load dimensions first (facts need surrogate keys)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Load facts at the correct grain with conformed keys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6.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Record audit: row counts, rejects, timestamps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5000" y="6070600"/>
            <a:ext cx="14986000" cy="6096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6" name="Text 24"/>
          <p:cNvSpPr/>
          <p:nvPr/>
        </p:nvSpPr>
        <p:spPr>
          <a:xfrm>
            <a:off x="838200" y="6070600"/>
            <a:ext cx="1460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Note: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Always load dimensions before facts when using surrogate keys. MERGE/UPSERT is essential for incremental processing — it enables idempotent reruns without creating duplicates.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5000" y="6858000"/>
            <a:ext cx="1498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8" name="Shape 26"/>
          <p:cNvSpPr/>
          <p:nvPr/>
        </p:nvSpPr>
        <p:spPr>
          <a:xfrm>
            <a:off x="635000" y="68580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9" name="Text 27"/>
          <p:cNvSpPr/>
          <p:nvPr/>
        </p:nvSpPr>
        <p:spPr>
          <a:xfrm>
            <a:off x="736600" y="68580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SQL Topics for Data Engineers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6600" y="7213600"/>
            <a:ext cx="1485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Joins and join cardinality — prevent accidental row multiplication; ■ Aggregations — correctly summarize at the intended grain; ■ Window functions — running totals, ranking, deduplication; ■ CTEs — improve readability of multi-step logic; ■ MERGE/UPSERT — essential for incremental processing; ■ Filters and projections — reduce unnecessary data movement; ■ Explain plans and tuning — scan strategy, pruning, join types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5000" y="83312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32" name="Text 30"/>
          <p:cNvSpPr/>
          <p:nvPr/>
        </p:nvSpPr>
        <p:spPr>
          <a:xfrm>
            <a:off x="635000" y="8432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Course Materials — Day 1 Supplement, Sections 8-9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5240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27000"/>
            <a:ext cx="50800" cy="685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87400" y="152400"/>
            <a:ext cx="146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264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Window functions, CTEs, and advanced aggregation unlock sophisticated analytical transformations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35000" y="8636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965200"/>
            <a:ext cx="7493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8" name="Text 6"/>
          <p:cNvSpPr/>
          <p:nvPr/>
        </p:nvSpPr>
        <p:spPr>
          <a:xfrm>
            <a:off x="736600" y="965200"/>
            <a:ext cx="736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Window Functions — Analytical Power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000" y="1295400"/>
            <a:ext cx="7493000" cy="2667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0" name="Text 8"/>
          <p:cNvSpPr/>
          <p:nvPr/>
        </p:nvSpPr>
        <p:spPr>
          <a:xfrm>
            <a:off x="736600" y="1371600"/>
            <a:ext cx="72898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Running total and ranking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customer_id, order_date,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total_amount,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SUM(total_amount) OVER (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PARTITION BY customer_id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ORDER BY order_date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) AS running_total,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RANK() OVER (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PARTITION BY customer_id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ORDER BY total_amount DESC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) AS amount_rank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sales.orders;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55000" y="965200"/>
            <a:ext cx="736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2" name="Shape 10"/>
          <p:cNvSpPr/>
          <p:nvPr/>
        </p:nvSpPr>
        <p:spPr>
          <a:xfrm>
            <a:off x="825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3" name="Text 11"/>
          <p:cNvSpPr/>
          <p:nvPr/>
        </p:nvSpPr>
        <p:spPr>
          <a:xfrm>
            <a:off x="8356600" y="965200"/>
            <a:ext cx="723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CTEs — Readable Multi-Step Logic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55000" y="1295400"/>
            <a:ext cx="7366000" cy="2667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8356600" y="1371600"/>
            <a:ext cx="71628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Multi-step transformation with CTEs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cleansed_orders AS (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SELECT * FROM stage_orders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WHERE total_amount &gt; 0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), order_summary AS (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SELECT customer_id,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COUNT(*) AS order_count,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SUM(total_amount) AS revenue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FROM cleansed_orders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GROUP BY customer_id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 * FROM order_summary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revenue &gt; 1000;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000" y="4140200"/>
            <a:ext cx="7493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000" y="4140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8" name="Text 16"/>
          <p:cNvSpPr/>
          <p:nvPr/>
        </p:nvSpPr>
        <p:spPr>
          <a:xfrm>
            <a:off x="736600" y="4140200"/>
            <a:ext cx="736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Transformation Logic with CASE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000" y="4470400"/>
            <a:ext cx="7493000" cy="1778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736600" y="4546600"/>
            <a:ext cx="72898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Standardization and enrichment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 o.order_id, o.customer_id,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CAST(o.order_date AS DATE),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UPPER(c.country) AS country,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CASE WHEN c.country IN ('UAE','KSA')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THEN 'GCC' ELSE 'OTHER'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END AS region_group,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o.total_amount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stage_orders o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LEFT JOIN dim_customer_ref c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ON o.customer_id = c.customer_id;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55000" y="4140200"/>
            <a:ext cx="736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2" name="Shape 20"/>
          <p:cNvSpPr/>
          <p:nvPr/>
        </p:nvSpPr>
        <p:spPr>
          <a:xfrm>
            <a:off x="8255000" y="4140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3" name="Text 21"/>
          <p:cNvSpPr/>
          <p:nvPr/>
        </p:nvSpPr>
        <p:spPr>
          <a:xfrm>
            <a:off x="8356600" y="4140200"/>
            <a:ext cx="723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Aggregation and Grouping Sets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55000" y="4470400"/>
            <a:ext cx="7366000" cy="1778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8356600" y="4546600"/>
            <a:ext cx="71628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Multi-level aggregation with GROUPING SETS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region, product_category,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SUM(revenue) AS total_revenue,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COUNT(*) AS transaction_count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fact_sales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GROUP BY GROUPING SETS (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(region, product_category),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(region), ()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5000" y="6426200"/>
            <a:ext cx="1498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7" name="Shape 25"/>
          <p:cNvSpPr/>
          <p:nvPr/>
        </p:nvSpPr>
        <p:spPr>
          <a:xfrm>
            <a:off x="635000" y="6426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8" name="Text 26"/>
          <p:cNvSpPr/>
          <p:nvPr/>
        </p:nvSpPr>
        <p:spPr>
          <a:xfrm>
            <a:off x="736600" y="64262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Tuning Basics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6600" y="6781800"/>
            <a:ext cx="148590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plans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Use EXPLAIN to understand scan strategies, join types, and sort costs; 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Partition pruning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Filter on partition columns first to minimize data scanned; 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Indexing awareness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Know which columns are indexed and write queries to leverage them; 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Join optimization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Prefer joins on indexed columns, avoid Cartesian products; 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Materialized views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Precompute expensive aggregations for frequently accessed dashboards; 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 only needed columns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Avoid SELECT * in production; explicit column lists improve performance and clarity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5000" y="83312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31" name="Text 29"/>
          <p:cNvSpPr/>
          <p:nvPr/>
        </p:nvSpPr>
        <p:spPr>
          <a:xfrm>
            <a:off x="635000" y="8432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Course Materials — Day 1 Full Guide, Sections 12-14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5240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27000"/>
            <a:ext cx="50800" cy="685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87400" y="152400"/>
            <a:ext cx="146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264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Warehouse loading follows a disciplined staged pattern to ensure data quality and traceability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35000" y="8636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965200"/>
            <a:ext cx="1498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8" name="Text 6"/>
          <p:cNvSpPr/>
          <p:nvPr/>
        </p:nvSpPr>
        <p:spPr>
          <a:xfrm>
            <a:off x="736600" y="9652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SQL-Driven Warehouse Loading Flow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000" y="1320800"/>
            <a:ext cx="2159000" cy="889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635000" y="1320800"/>
            <a:ext cx="2159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397000"/>
            <a:ext cx="20574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Sources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DBs, APIs, Files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19400" y="1727200"/>
            <a:ext cx="2540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13" name="Shape 11"/>
          <p:cNvSpPr/>
          <p:nvPr/>
        </p:nvSpPr>
        <p:spPr>
          <a:xfrm>
            <a:off x="3098800" y="1320800"/>
            <a:ext cx="2159000" cy="889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4" name="Shape 12"/>
          <p:cNvSpPr/>
          <p:nvPr/>
        </p:nvSpPr>
        <p:spPr>
          <a:xfrm>
            <a:off x="3098800" y="1320800"/>
            <a:ext cx="2159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5" name="Text 13"/>
          <p:cNvSpPr/>
          <p:nvPr/>
        </p:nvSpPr>
        <p:spPr>
          <a:xfrm>
            <a:off x="3149600" y="1397000"/>
            <a:ext cx="20574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Stage Tables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landing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283200" y="1727200"/>
            <a:ext cx="2540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562600" y="1320800"/>
            <a:ext cx="2159000" cy="889000"/>
          </a:xfrm>
          <a:prstGeom prst="rect">
            <a:avLst/>
          </a:prstGeom>
          <a:solidFill>
            <a:srgbClr val="FEF6E8"/>
          </a:solidFill>
          <a:ln/>
        </p:spPr>
      </p:sp>
      <p:sp>
        <p:nvSpPr>
          <p:cNvPr id="18" name="Shape 16"/>
          <p:cNvSpPr/>
          <p:nvPr/>
        </p:nvSpPr>
        <p:spPr>
          <a:xfrm>
            <a:off x="5562600" y="1320800"/>
            <a:ext cx="2159000" cy="50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9" name="Text 17"/>
          <p:cNvSpPr/>
          <p:nvPr/>
        </p:nvSpPr>
        <p:spPr>
          <a:xfrm>
            <a:off x="5613400" y="1397000"/>
            <a:ext cx="20574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C996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Validation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checks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47000" y="1727200"/>
            <a:ext cx="2540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21" name="Shape 19"/>
          <p:cNvSpPr/>
          <p:nvPr/>
        </p:nvSpPr>
        <p:spPr>
          <a:xfrm>
            <a:off x="8026400" y="1320800"/>
            <a:ext cx="2159000" cy="889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2" name="Shape 20"/>
          <p:cNvSpPr/>
          <p:nvPr/>
        </p:nvSpPr>
        <p:spPr>
          <a:xfrm>
            <a:off x="8026400" y="1320800"/>
            <a:ext cx="2159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3" name="Text 21"/>
          <p:cNvSpPr/>
          <p:nvPr/>
        </p:nvSpPr>
        <p:spPr>
          <a:xfrm>
            <a:off x="8077200" y="1397000"/>
            <a:ext cx="20574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Dim Loads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SCD handling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210800" y="1727200"/>
            <a:ext cx="2540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25" name="Shape 23"/>
          <p:cNvSpPr/>
          <p:nvPr/>
        </p:nvSpPr>
        <p:spPr>
          <a:xfrm>
            <a:off x="10490200" y="1320800"/>
            <a:ext cx="2159000" cy="889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6" name="Shape 24"/>
          <p:cNvSpPr/>
          <p:nvPr/>
        </p:nvSpPr>
        <p:spPr>
          <a:xfrm>
            <a:off x="10490200" y="1320800"/>
            <a:ext cx="2159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7" name="Text 25"/>
          <p:cNvSpPr/>
          <p:nvPr/>
        </p:nvSpPr>
        <p:spPr>
          <a:xfrm>
            <a:off x="10541000" y="1397000"/>
            <a:ext cx="20574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Fact Loads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Correct grain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2674600" y="1727200"/>
            <a:ext cx="2540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29" name="Shape 27"/>
          <p:cNvSpPr/>
          <p:nvPr/>
        </p:nvSpPr>
        <p:spPr>
          <a:xfrm>
            <a:off x="12954000" y="1320800"/>
            <a:ext cx="2667000" cy="889000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30" name="Shape 28"/>
          <p:cNvSpPr/>
          <p:nvPr/>
        </p:nvSpPr>
        <p:spPr>
          <a:xfrm>
            <a:off x="12954000" y="1320800"/>
            <a:ext cx="2667000" cy="50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31" name="Text 29"/>
          <p:cNvSpPr/>
          <p:nvPr/>
        </p:nvSpPr>
        <p:spPr>
          <a:xfrm>
            <a:off x="13004800" y="1397000"/>
            <a:ext cx="25654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Curated Warehouse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 / ML / Analytics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5000" y="2413000"/>
            <a:ext cx="7493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33" name="Shape 31"/>
          <p:cNvSpPr/>
          <p:nvPr/>
        </p:nvSpPr>
        <p:spPr>
          <a:xfrm>
            <a:off x="635000" y="24130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34" name="Text 32"/>
          <p:cNvSpPr/>
          <p:nvPr/>
        </p:nvSpPr>
        <p:spPr>
          <a:xfrm>
            <a:off x="736600" y="2413000"/>
            <a:ext cx="736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 Queries — Quality Gates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35000" y="2743200"/>
            <a:ext cx="7493000" cy="2286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6" name="Text 34"/>
          <p:cNvSpPr/>
          <p:nvPr/>
        </p:nvSpPr>
        <p:spPr>
          <a:xfrm>
            <a:off x="736600" y="2819400"/>
            <a:ext cx="72898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Duplicate business key check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 customer_id, COUNT(*)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stage_customer_delta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GROUP BY customer_id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HAVING COUNT(*) &gt; 1;</a:t>
            </a:r>
            <a:endParaRPr lang="en-US" sz="1200" dirty="0"/>
          </a:p>
          <a:p>
            <a:pPr algn="l">
              <a:lnSpc>
                <a:spcPct val="150000"/>
              </a:lnSpc>
            </a:pP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Null violation check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 COUNT(*) AS null_count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stage_orders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customer_id IS NULL;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255000" y="2413000"/>
            <a:ext cx="736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38" name="Shape 36"/>
          <p:cNvSpPr/>
          <p:nvPr/>
        </p:nvSpPr>
        <p:spPr>
          <a:xfrm>
            <a:off x="8255000" y="24130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39" name="Text 37"/>
          <p:cNvSpPr/>
          <p:nvPr/>
        </p:nvSpPr>
        <p:spPr>
          <a:xfrm>
            <a:off x="8356600" y="2413000"/>
            <a:ext cx="723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SCD Type 2 MERGE — Dimension Loading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255000" y="2743200"/>
            <a:ext cx="7366000" cy="2286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1" name="Text 39"/>
          <p:cNvSpPr/>
          <p:nvPr/>
        </p:nvSpPr>
        <p:spPr>
          <a:xfrm>
            <a:off x="8356600" y="2819400"/>
            <a:ext cx="71628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SCD Type 2 dimension merge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MERGE INTO dw.dim_customer AS tgt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stage_customer_delta AS src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 tgt.customer_id = src.customer_id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AND tgt.current_flag = 'Y'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MATCHED AND (changes) THEN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UPDATE SET effective_end_date =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CURRENT_DATE - 1, current_flag = 'N'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NOT MATCHED THEN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INSERT (sk, id, name, city,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start_dt, end_dt, flag)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VALUES (NEXTVAL(...), ...);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5000" y="5207000"/>
            <a:ext cx="1498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43" name="Shape 41"/>
          <p:cNvSpPr/>
          <p:nvPr/>
        </p:nvSpPr>
        <p:spPr>
          <a:xfrm>
            <a:off x="635000" y="52070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4" name="Text 42"/>
          <p:cNvSpPr/>
          <p:nvPr/>
        </p:nvSpPr>
        <p:spPr>
          <a:xfrm>
            <a:off x="736600" y="52070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 and Reconciliation — Completing the Load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36600" y="5562600"/>
            <a:ext cx="14859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warehouse load must record these audit metrics: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Row counts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source rows extracted, stage rows loaded, target rows inserted/updated, reject rows quarantined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Timestamps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extraction start/end, transformation start/end, load completion, data freshness relative to source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Batch metadata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batch ID, run ID, source system identifier, watermark value for next incremental run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 results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duplicate count, null violation count, referential integrity failures, accepted value violations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Quarantine strategy: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Failed validations should route bad records to a quarantine table for manual review, not silently dropped. This preserves auditability and enables root cause analysis.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35000" y="83312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47" name="Text 45"/>
          <p:cNvSpPr/>
          <p:nvPr/>
        </p:nvSpPr>
        <p:spPr>
          <a:xfrm>
            <a:off x="635000" y="8432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Course Materials — Day 1 Supplement, Section 9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5240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3" name="Text 1"/>
          <p:cNvSpPr/>
          <p:nvPr/>
        </p:nvSpPr>
        <p:spPr>
          <a:xfrm>
            <a:off x="10414000" y="2794000"/>
            <a:ext cx="5588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0" b="1" dirty="0">
                <a:solidFill>
                  <a:srgbClr val="FFFFFF">
                    <a:alpha val="10196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03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1016000" y="25400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spc="200" kern="0" dirty="0">
                <a:solidFill>
                  <a:srgbClr val="FFFFFF">
                    <a:alpha val="5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16000" y="3048000"/>
            <a:ext cx="1524000" cy="25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3302000"/>
            <a:ext cx="1143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 Warehousing Fundamentals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16000" y="43180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>
                    <a:alpha val="7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Dimensional Modeling, Schema Design &amp; Historical Data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6000" y="4953000"/>
            <a:ext cx="990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Designing analytical storage with dimensional modeling, comparing star and snowflake schemas, and managing slowly changing dimensions for accurate historical reporting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9080500"/>
            <a:ext cx="16256000" cy="63500"/>
          </a:xfrm>
          <a:prstGeom prst="rect">
            <a:avLst/>
          </a:prstGeom>
          <a:solidFill>
            <a:srgbClr val="C9963B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27000"/>
            <a:ext cx="50800" cy="685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87400" y="152400"/>
            <a:ext cx="146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264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evolution from data warehouses to lakes to lakehouses reflects the growing need for both flexibility and governance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35000" y="8636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965200"/>
            <a:ext cx="1498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8" name="Text 6"/>
          <p:cNvSpPr/>
          <p:nvPr/>
        </p:nvSpPr>
        <p:spPr>
          <a:xfrm>
            <a:off x="736600" y="9652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Warehouse vs Data Lake vs Lakehouse — Three Architectures Compared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1295400"/>
          <a:ext cx="14986000" cy="2540000"/>
        </p:xfrm>
        <a:graphic>
          <a:graphicData uri="http://schemas.openxmlformats.org/drawingml/2006/table">
            <a:tbl>
              <a:tblPr/>
              <a:tblGrid>
                <a:gridCol w="2697480"/>
                <a:gridCol w="4196080"/>
                <a:gridCol w="4196080"/>
                <a:gridCol w="3896360"/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Dimension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 Warehouse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 Lake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Lakehouse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What It Emphasizes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Curated analytical structures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Low-cost scalable raw storage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Open storage + analytics + governance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Strengths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Strong SQL/BI, governed semantics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Flexible, open formats, raw retention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Raw flexibility + warehouse querying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Trade-Offs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Less flexible for raw data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Needs strong governance discipline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Requires operational discipline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Example Platforms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Snowflake, BigQuery, Synapse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ADLS, S3, OneLake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Databricks, Fabric Lakehouse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35000" y="4013200"/>
            <a:ext cx="7493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1" name="Shape 8"/>
          <p:cNvSpPr/>
          <p:nvPr/>
        </p:nvSpPr>
        <p:spPr>
          <a:xfrm>
            <a:off x="635000" y="4013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2" name="Text 9"/>
          <p:cNvSpPr/>
          <p:nvPr/>
        </p:nvSpPr>
        <p:spPr>
          <a:xfrm>
            <a:off x="736600" y="4013200"/>
            <a:ext cx="736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Warehouses Exist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6600" y="4368800"/>
            <a:ext cx="72644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 systems are not ideal for analytics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OLTP databases cannot handle large analytical scans, multi-year reporting, or complex multi-table joins efficiently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needs stable metric definitions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warehouse provides consistent, governed definitions of KPIs, dimensions, and measures across the organization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Historical trending requires integrated data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Analytical platforms must support time-series analysis, year-over-year comparisons, and historical snapshots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Governance must be centralized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control, data quality, auditability, and compliance are easier to manage in a dedicated analytical platform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55000" y="4013200"/>
            <a:ext cx="736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5" name="Shape 12"/>
          <p:cNvSpPr/>
          <p:nvPr/>
        </p:nvSpPr>
        <p:spPr>
          <a:xfrm>
            <a:off x="8255000" y="4013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6" name="Text 13"/>
          <p:cNvSpPr/>
          <p:nvPr/>
        </p:nvSpPr>
        <p:spPr>
          <a:xfrm>
            <a:off x="8356600" y="4013200"/>
            <a:ext cx="723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Flow — Source to Analytics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255000" y="4368800"/>
            <a:ext cx="7366000" cy="508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8" name="Shape 15"/>
          <p:cNvSpPr/>
          <p:nvPr/>
        </p:nvSpPr>
        <p:spPr>
          <a:xfrm>
            <a:off x="8255000" y="4368800"/>
            <a:ext cx="736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356600" y="4419600"/>
            <a:ext cx="71628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Operational Sources / APIs / Files / Events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1811000" y="4902200"/>
            <a:ext cx="25400" cy="2032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21" name="Shape 18"/>
          <p:cNvSpPr/>
          <p:nvPr/>
        </p:nvSpPr>
        <p:spPr>
          <a:xfrm>
            <a:off x="8255000" y="5130800"/>
            <a:ext cx="7366000" cy="508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2" name="Text 19"/>
          <p:cNvSpPr/>
          <p:nvPr/>
        </p:nvSpPr>
        <p:spPr>
          <a:xfrm>
            <a:off x="8356600" y="5181600"/>
            <a:ext cx="71628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Storage (Data Lake)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11811000" y="5664200"/>
            <a:ext cx="25400" cy="2032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24" name="Shape 21"/>
          <p:cNvSpPr/>
          <p:nvPr/>
        </p:nvSpPr>
        <p:spPr>
          <a:xfrm>
            <a:off x="8255000" y="5892800"/>
            <a:ext cx="7366000" cy="508000"/>
          </a:xfrm>
          <a:prstGeom prst="rect">
            <a:avLst/>
          </a:prstGeom>
          <a:solidFill>
            <a:srgbClr val="FEF6E8"/>
          </a:solidFill>
          <a:ln/>
        </p:spPr>
      </p:sp>
      <p:sp>
        <p:nvSpPr>
          <p:cNvPr id="25" name="Shape 22"/>
          <p:cNvSpPr/>
          <p:nvPr/>
        </p:nvSpPr>
        <p:spPr>
          <a:xfrm>
            <a:off x="8255000" y="5892800"/>
            <a:ext cx="7366000" cy="50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6" name="Text 23"/>
          <p:cNvSpPr/>
          <p:nvPr/>
        </p:nvSpPr>
        <p:spPr>
          <a:xfrm>
            <a:off x="8356600" y="5943600"/>
            <a:ext cx="71628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C996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Lakehouse Tables / Transform Layer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11811000" y="6426200"/>
            <a:ext cx="25400" cy="2032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28" name="Shape 25"/>
          <p:cNvSpPr/>
          <p:nvPr/>
        </p:nvSpPr>
        <p:spPr>
          <a:xfrm>
            <a:off x="8255000" y="6654800"/>
            <a:ext cx="7366000" cy="508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9" name="Text 26"/>
          <p:cNvSpPr/>
          <p:nvPr/>
        </p:nvSpPr>
        <p:spPr>
          <a:xfrm>
            <a:off x="8356600" y="6705600"/>
            <a:ext cx="71628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Warehouse Models / Marts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1811000" y="7188200"/>
            <a:ext cx="25400" cy="2032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31" name="Shape 28"/>
          <p:cNvSpPr/>
          <p:nvPr/>
        </p:nvSpPr>
        <p:spPr>
          <a:xfrm>
            <a:off x="8255000" y="7416800"/>
            <a:ext cx="7366000" cy="508000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32" name="Shape 29"/>
          <p:cNvSpPr/>
          <p:nvPr/>
        </p:nvSpPr>
        <p:spPr>
          <a:xfrm>
            <a:off x="8255000" y="7416800"/>
            <a:ext cx="7366000" cy="50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33" name="Text 30"/>
          <p:cNvSpPr/>
          <p:nvPr/>
        </p:nvSpPr>
        <p:spPr>
          <a:xfrm>
            <a:off x="8356600" y="7467600"/>
            <a:ext cx="71628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Dashboards / ML / Analytics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35000" y="83312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35" name="Text 32"/>
          <p:cNvSpPr/>
          <p:nvPr/>
        </p:nvSpPr>
        <p:spPr>
          <a:xfrm>
            <a:off x="635000" y="8432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Course Materials — Day 2 Full Guide, Section 3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5240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27000"/>
            <a:ext cx="50800" cy="685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87400" y="152400"/>
            <a:ext cx="146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264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Dimensional modeling organizes analytical data around measurable facts and descriptive dimensions at a defined grain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35000" y="8636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965200"/>
            <a:ext cx="7112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8" name="Text 6"/>
          <p:cNvSpPr/>
          <p:nvPr/>
        </p:nvSpPr>
        <p:spPr>
          <a:xfrm>
            <a:off x="736600" y="965200"/>
            <a:ext cx="698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Dimensional Model Structure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40000" y="1371600"/>
            <a:ext cx="3302000" cy="1016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0" name="Text 8"/>
          <p:cNvSpPr/>
          <p:nvPr/>
        </p:nvSpPr>
        <p:spPr>
          <a:xfrm>
            <a:off x="2616200" y="1422400"/>
            <a:ext cx="314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Fact Sales</a:t>
            </a:r>
            <a:endParaRPr lang="en-US" sz="15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order_line_key | revenue | qty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5000" y="2540000"/>
            <a:ext cx="1651000" cy="762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2" name="Shape 10"/>
          <p:cNvSpPr/>
          <p:nvPr/>
        </p:nvSpPr>
        <p:spPr>
          <a:xfrm>
            <a:off x="635000" y="2540000"/>
            <a:ext cx="1651000" cy="50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162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 Customer</a:t>
            </a:r>
            <a:endParaRPr lang="en-US" sz="1200" dirty="0"/>
          </a:p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segment | country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51000" y="2387600"/>
            <a:ext cx="1524000" cy="177800"/>
          </a:xfrm>
          <a:prstGeom prst="straightConnector1">
            <a:avLst/>
          </a:prstGeom>
          <a:noFill/>
          <a:ln w="12700">
            <a:solidFill>
              <a:srgbClr val="D0D8E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2540000" y="2540000"/>
            <a:ext cx="1651000" cy="762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6" name="Shape 14"/>
          <p:cNvSpPr/>
          <p:nvPr/>
        </p:nvSpPr>
        <p:spPr>
          <a:xfrm>
            <a:off x="2540000" y="2540000"/>
            <a:ext cx="1651000" cy="50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7" name="Text 15"/>
          <p:cNvSpPr/>
          <p:nvPr/>
        </p:nvSpPr>
        <p:spPr>
          <a:xfrm>
            <a:off x="2590800" y="26162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 Product</a:t>
            </a:r>
            <a:endParaRPr lang="en-US" sz="1200" dirty="0"/>
          </a:p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category | brand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91000" y="2387600"/>
            <a:ext cx="0" cy="177800"/>
          </a:xfrm>
          <a:prstGeom prst="straightConnector1">
            <a:avLst/>
          </a:prstGeom>
          <a:noFill/>
          <a:ln w="12700">
            <a:solidFill>
              <a:srgbClr val="D0D8E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4445000" y="2540000"/>
            <a:ext cx="1651000" cy="762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0" name="Shape 18"/>
          <p:cNvSpPr/>
          <p:nvPr/>
        </p:nvSpPr>
        <p:spPr>
          <a:xfrm>
            <a:off x="4445000" y="2540000"/>
            <a:ext cx="1651000" cy="50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1" name="Text 19"/>
          <p:cNvSpPr/>
          <p:nvPr/>
        </p:nvSpPr>
        <p:spPr>
          <a:xfrm>
            <a:off x="4495800" y="26162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 Date</a:t>
            </a:r>
            <a:endParaRPr lang="en-US" sz="1200" dirty="0"/>
          </a:p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 | quarter | year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07000" y="2387600"/>
            <a:ext cx="635000" cy="177800"/>
          </a:xfrm>
          <a:prstGeom prst="straightConnector1">
            <a:avLst/>
          </a:prstGeom>
          <a:noFill/>
          <a:ln w="12700">
            <a:solidFill>
              <a:srgbClr val="D0D8E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6350000" y="2540000"/>
            <a:ext cx="1651000" cy="762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4" name="Shape 22"/>
          <p:cNvSpPr/>
          <p:nvPr/>
        </p:nvSpPr>
        <p:spPr>
          <a:xfrm>
            <a:off x="6350000" y="2540000"/>
            <a:ext cx="1651000" cy="50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26162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 Channel</a:t>
            </a:r>
            <a:endParaRPr lang="en-US" sz="1200" dirty="0"/>
          </a:p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channel_name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55000" y="965200"/>
            <a:ext cx="736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7" name="Shape 25"/>
          <p:cNvSpPr/>
          <p:nvPr/>
        </p:nvSpPr>
        <p:spPr>
          <a:xfrm>
            <a:off x="825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8" name="Text 26"/>
          <p:cNvSpPr/>
          <p:nvPr/>
        </p:nvSpPr>
        <p:spPr>
          <a:xfrm>
            <a:off x="8356600" y="965200"/>
            <a:ext cx="723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Fact vs Dimension — Core Definitions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56600" y="1320800"/>
            <a:ext cx="71374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Fact Tables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Store measurable business events or metrics at a defined grain. Carry foreign keys to dimensions and numeric measures.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Examples: revenue, quantity, discount, cost, seats sold, event count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Dimension Tables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 descriptive context for facts. Enable filtering, grouping, and business interpretation of measures.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Examples: customer, product, date, route, channel, promotion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35000" y="3556000"/>
            <a:ext cx="7493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31" name="Shape 29"/>
          <p:cNvSpPr/>
          <p:nvPr/>
        </p:nvSpPr>
        <p:spPr>
          <a:xfrm>
            <a:off x="635000" y="35560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32" name="Text 30"/>
          <p:cNvSpPr/>
          <p:nvPr/>
        </p:nvSpPr>
        <p:spPr>
          <a:xfrm>
            <a:off x="736600" y="3556000"/>
            <a:ext cx="736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Grain — The Most Important Design Decision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3886200"/>
          <a:ext cx="7493000" cy="2286000"/>
        </p:xfrm>
        <a:graphic>
          <a:graphicData uri="http://schemas.openxmlformats.org/drawingml/2006/table">
            <a:tbl>
              <a:tblPr/>
              <a:tblGrid>
                <a:gridCol w="2098040"/>
                <a:gridCol w="2847340"/>
                <a:gridCol w="25476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Business Process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Grain (One Row =)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Example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Retail Sales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One order line (SKU per order)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Each SKU gets its own row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Airline Booking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One booking segment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One traveler per flight segment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Web Analytics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One event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Page view, click, session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Finance Ledger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One posting entry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Debit or credit line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  <p:sp>
        <p:nvSpPr>
          <p:cNvPr id="34" name="Shape 31"/>
          <p:cNvSpPr/>
          <p:nvPr/>
        </p:nvSpPr>
        <p:spPr>
          <a:xfrm>
            <a:off x="8255000" y="3556000"/>
            <a:ext cx="736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35" name="Shape 32"/>
          <p:cNvSpPr/>
          <p:nvPr/>
        </p:nvSpPr>
        <p:spPr>
          <a:xfrm>
            <a:off x="8255000" y="35560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36" name="Text 33"/>
          <p:cNvSpPr/>
          <p:nvPr/>
        </p:nvSpPr>
        <p:spPr>
          <a:xfrm>
            <a:off x="8356600" y="3556000"/>
            <a:ext cx="723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Principles for Dimensional Models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8356600" y="3911600"/>
            <a:ext cx="7137400" cy="226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Define grain first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before any measures or joins. Ambiguous grain makes metrics unreliable.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Grain should be atomic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at the lowest level of detail needed. You can always roll up; you cannot roll down.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fact table per business process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do not combine unrelated processes into one fact table.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surrogate keys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separate from business keys. Enables SCD handling and decouples from source.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Conformed dimensions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shared across fact tables ensure consistent filtering and drilling.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35000" y="6350000"/>
            <a:ext cx="14986000" cy="6096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9" name="Text 36"/>
          <p:cNvSpPr/>
          <p:nvPr/>
        </p:nvSpPr>
        <p:spPr>
          <a:xfrm>
            <a:off x="838200" y="6350000"/>
            <a:ext cx="1460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Principle: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If grain is ambiguous, measures and joins become unreliable. A well-defined grain is the foundation of correct warehouse design. State the grain explicitly before writing any SQL.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635000" y="7137400"/>
            <a:ext cx="1498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41" name="Shape 38"/>
          <p:cNvSpPr/>
          <p:nvPr/>
        </p:nvSpPr>
        <p:spPr>
          <a:xfrm>
            <a:off x="635000" y="71374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2" name="Text 39"/>
          <p:cNvSpPr/>
          <p:nvPr/>
        </p:nvSpPr>
        <p:spPr>
          <a:xfrm>
            <a:off x="736600" y="71374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Dimension Types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736600" y="7493000"/>
            <a:ext cx="14859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Date/Time dimensions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calendar attributes, fiscal periods, holidays; ■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Junk dimensions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combine low-cardinality flags into one table; ■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Degenerate dimensions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transaction numbers stored directly in the fact table; ■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Role-playing dimensions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same dimension used multiple ways (order date vs ship date)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635000" y="83312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45" name="Text 42"/>
          <p:cNvSpPr/>
          <p:nvPr/>
        </p:nvSpPr>
        <p:spPr>
          <a:xfrm>
            <a:off x="635000" y="8432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Course Materials — Day 2 Full Guide, Section 4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5240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27000"/>
            <a:ext cx="50800" cy="685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87400" y="152400"/>
            <a:ext cx="146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264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Star and snowflake schemas represent a trade-off between query simplicity and storage normalization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35000" y="8636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965200"/>
            <a:ext cx="7493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8" name="Text 6"/>
          <p:cNvSpPr/>
          <p:nvPr/>
        </p:nvSpPr>
        <p:spPr>
          <a:xfrm>
            <a:off x="736600" y="965200"/>
            <a:ext cx="736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 vs Snowflake — Comparison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1295400"/>
          <a:ext cx="7493000" cy="2286000"/>
        </p:xfrm>
        <a:graphic>
          <a:graphicData uri="http://schemas.openxmlformats.org/drawingml/2006/table">
            <a:tbl>
              <a:tblPr/>
              <a:tblGrid>
                <a:gridCol w="2098040"/>
                <a:gridCol w="2697480"/>
                <a:gridCol w="2697480"/>
              </a:tblGrid>
              <a:tr h="38176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Aspect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Star Schema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Snowflake Schema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8176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Dimension Design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Denormalized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Normalized into sub-dims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Query Simplicity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C996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Higher</a:t>
                      </a:r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— fewer joins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Lower — more joins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38176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Storage Efficiency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Lower — some redundancy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C996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Higher</a:t>
                      </a:r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— less redundancy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User Friendliness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C996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Very strong</a:t>
                      </a:r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for BI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More complex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Best For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Marts and reporting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Hierarchies, reuse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255000" y="965200"/>
            <a:ext cx="736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1" name="Shape 8"/>
          <p:cNvSpPr/>
          <p:nvPr/>
        </p:nvSpPr>
        <p:spPr>
          <a:xfrm>
            <a:off x="825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2" name="Text 9"/>
          <p:cNvSpPr/>
          <p:nvPr/>
        </p:nvSpPr>
        <p:spPr>
          <a:xfrm>
            <a:off x="8356600" y="965200"/>
            <a:ext cx="723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to Choose Which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356600" y="1320800"/>
            <a:ext cx="7137400" cy="226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Choose Star Schema when: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BI tools and self-service users need simple, intuitive models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Query performance is a priority — fewer joins mean faster response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Storage costs are acceptable relative to query speed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Choose Snowflake when: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Deep hierarchies exist (e.g., product → category → department)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Same dimension attributes are reused across multiple dimensions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Storage optimization is a significant concern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35000" y="3784600"/>
            <a:ext cx="7493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5" name="Shape 12"/>
          <p:cNvSpPr/>
          <p:nvPr/>
        </p:nvSpPr>
        <p:spPr>
          <a:xfrm>
            <a:off x="635000" y="37846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6" name="Text 13"/>
          <p:cNvSpPr/>
          <p:nvPr/>
        </p:nvSpPr>
        <p:spPr>
          <a:xfrm>
            <a:off x="736600" y="3784600"/>
            <a:ext cx="736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 Schema Visual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921000" y="4216400"/>
            <a:ext cx="2286000" cy="762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8" name="Text 15"/>
          <p:cNvSpPr/>
          <p:nvPr/>
        </p:nvSpPr>
        <p:spPr>
          <a:xfrm>
            <a:off x="2971800" y="4267200"/>
            <a:ext cx="2184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Fact Sales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62000" y="4216400"/>
            <a:ext cx="1651000" cy="635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0" name="Text 17"/>
          <p:cNvSpPr/>
          <p:nvPr/>
        </p:nvSpPr>
        <p:spPr>
          <a:xfrm>
            <a:off x="812800" y="4267200"/>
            <a:ext cx="1549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 Customer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413000" y="4521200"/>
            <a:ext cx="5334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22" name="Shape 19"/>
          <p:cNvSpPr/>
          <p:nvPr/>
        </p:nvSpPr>
        <p:spPr>
          <a:xfrm>
            <a:off x="762000" y="5080000"/>
            <a:ext cx="1651000" cy="635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3" name="Text 20"/>
          <p:cNvSpPr/>
          <p:nvPr/>
        </p:nvSpPr>
        <p:spPr>
          <a:xfrm>
            <a:off x="812800" y="5130800"/>
            <a:ext cx="1549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 Product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413000" y="5080000"/>
            <a:ext cx="533400" cy="508000"/>
          </a:xfrm>
          <a:prstGeom prst="straightConnector1">
            <a:avLst/>
          </a:prstGeom>
          <a:noFill/>
          <a:ln w="12700">
            <a:solidFill>
              <a:srgbClr val="D0D8E4"/>
            </a:solidFill>
            <a:prstDash val="solid"/>
            <a:headEnd type="none"/>
            <a:tailEnd type="none"/>
          </a:ln>
        </p:spPr>
      </p:sp>
      <p:sp>
        <p:nvSpPr>
          <p:cNvPr id="25" name="Shape 22"/>
          <p:cNvSpPr/>
          <p:nvPr/>
        </p:nvSpPr>
        <p:spPr>
          <a:xfrm>
            <a:off x="5715000" y="4216400"/>
            <a:ext cx="1651000" cy="635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6" name="Text 23"/>
          <p:cNvSpPr/>
          <p:nvPr/>
        </p:nvSpPr>
        <p:spPr>
          <a:xfrm>
            <a:off x="5765800" y="4267200"/>
            <a:ext cx="1549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 Date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207000" y="4521200"/>
            <a:ext cx="5334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28" name="Shape 25"/>
          <p:cNvSpPr/>
          <p:nvPr/>
        </p:nvSpPr>
        <p:spPr>
          <a:xfrm>
            <a:off x="5715000" y="5080000"/>
            <a:ext cx="1651000" cy="635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9" name="Text 26"/>
          <p:cNvSpPr/>
          <p:nvPr/>
        </p:nvSpPr>
        <p:spPr>
          <a:xfrm>
            <a:off x="5765800" y="5130800"/>
            <a:ext cx="1549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 Store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207000" y="4597400"/>
            <a:ext cx="533400" cy="508000"/>
          </a:xfrm>
          <a:prstGeom prst="straightConnector1">
            <a:avLst/>
          </a:prstGeom>
          <a:noFill/>
          <a:ln w="12700">
            <a:solidFill>
              <a:srgbClr val="D0D8E4"/>
            </a:solidFill>
            <a:prstDash val="solid"/>
            <a:headEnd type="none"/>
            <a:tailEnd type="none"/>
          </a:ln>
        </p:spPr>
      </p:sp>
      <p:sp>
        <p:nvSpPr>
          <p:cNvPr id="31" name="Shape 28"/>
          <p:cNvSpPr/>
          <p:nvPr/>
        </p:nvSpPr>
        <p:spPr>
          <a:xfrm>
            <a:off x="8255000" y="3784600"/>
            <a:ext cx="736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32" name="Shape 29"/>
          <p:cNvSpPr/>
          <p:nvPr/>
        </p:nvSpPr>
        <p:spPr>
          <a:xfrm>
            <a:off x="8255000" y="37846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33" name="Text 30"/>
          <p:cNvSpPr/>
          <p:nvPr/>
        </p:nvSpPr>
        <p:spPr>
          <a:xfrm>
            <a:off x="8356600" y="3784600"/>
            <a:ext cx="723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Snowflake Schema Visual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10541000" y="4216400"/>
            <a:ext cx="2286000" cy="762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5" name="Text 32"/>
          <p:cNvSpPr/>
          <p:nvPr/>
        </p:nvSpPr>
        <p:spPr>
          <a:xfrm>
            <a:off x="10591800" y="4267200"/>
            <a:ext cx="2184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Fact Sales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8382000" y="3937000"/>
            <a:ext cx="1651000" cy="508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37" name="Text 34"/>
          <p:cNvSpPr/>
          <p:nvPr/>
        </p:nvSpPr>
        <p:spPr>
          <a:xfrm>
            <a:off x="8432800" y="3987800"/>
            <a:ext cx="1549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 Customer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10033000" y="4191000"/>
            <a:ext cx="533400" cy="203200"/>
          </a:xfrm>
          <a:prstGeom prst="straightConnector1">
            <a:avLst/>
          </a:prstGeom>
          <a:noFill/>
          <a:ln w="12700">
            <a:solidFill>
              <a:srgbClr val="D0D8E4"/>
            </a:solidFill>
            <a:prstDash val="solid"/>
            <a:headEnd type="none"/>
            <a:tailEnd type="none"/>
          </a:ln>
        </p:spPr>
      </p:sp>
      <p:sp>
        <p:nvSpPr>
          <p:cNvPr id="39" name="Shape 36"/>
          <p:cNvSpPr/>
          <p:nvPr/>
        </p:nvSpPr>
        <p:spPr>
          <a:xfrm>
            <a:off x="8382000" y="3302000"/>
            <a:ext cx="1651000" cy="5080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40" name="Text 37"/>
          <p:cNvSpPr/>
          <p:nvPr/>
        </p:nvSpPr>
        <p:spPr>
          <a:xfrm>
            <a:off x="8432800" y="3352800"/>
            <a:ext cx="1549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 Segment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9207500" y="3835400"/>
            <a:ext cx="25400" cy="1270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42" name="Shape 39"/>
          <p:cNvSpPr/>
          <p:nvPr/>
        </p:nvSpPr>
        <p:spPr>
          <a:xfrm>
            <a:off x="13335000" y="3937000"/>
            <a:ext cx="1651000" cy="508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43" name="Text 40"/>
          <p:cNvSpPr/>
          <p:nvPr/>
        </p:nvSpPr>
        <p:spPr>
          <a:xfrm>
            <a:off x="13385800" y="3987800"/>
            <a:ext cx="1549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 Product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 flipH="1">
            <a:off x="12827000" y="4191000"/>
            <a:ext cx="533400" cy="203200"/>
          </a:xfrm>
          <a:prstGeom prst="straightConnector1">
            <a:avLst/>
          </a:prstGeom>
          <a:noFill/>
          <a:ln w="12700">
            <a:solidFill>
              <a:srgbClr val="D0D8E4"/>
            </a:solidFill>
            <a:prstDash val="solid"/>
            <a:headEnd type="none"/>
            <a:tailEnd type="none"/>
          </a:ln>
        </p:spPr>
      </p:sp>
      <p:sp>
        <p:nvSpPr>
          <p:cNvPr id="45" name="Shape 42"/>
          <p:cNvSpPr/>
          <p:nvPr/>
        </p:nvSpPr>
        <p:spPr>
          <a:xfrm>
            <a:off x="13335000" y="3302000"/>
            <a:ext cx="1651000" cy="5080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46" name="Text 43"/>
          <p:cNvSpPr/>
          <p:nvPr/>
        </p:nvSpPr>
        <p:spPr>
          <a:xfrm>
            <a:off x="13385800" y="3352800"/>
            <a:ext cx="1549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Category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14160500" y="3835400"/>
            <a:ext cx="25400" cy="1270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48" name="Shape 45"/>
          <p:cNvSpPr/>
          <p:nvPr/>
        </p:nvSpPr>
        <p:spPr>
          <a:xfrm>
            <a:off x="10541000" y="5207000"/>
            <a:ext cx="1651000" cy="635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49" name="Text 46"/>
          <p:cNvSpPr/>
          <p:nvPr/>
        </p:nvSpPr>
        <p:spPr>
          <a:xfrm>
            <a:off x="10591800" y="5257800"/>
            <a:ext cx="1549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 Date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11049000" y="4978400"/>
            <a:ext cx="25400" cy="2540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51" name="Shape 48"/>
          <p:cNvSpPr/>
          <p:nvPr/>
        </p:nvSpPr>
        <p:spPr>
          <a:xfrm>
            <a:off x="635000" y="5969000"/>
            <a:ext cx="1498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52" name="Shape 49"/>
          <p:cNvSpPr/>
          <p:nvPr/>
        </p:nvSpPr>
        <p:spPr>
          <a:xfrm>
            <a:off x="635000" y="59690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53" name="Text 50"/>
          <p:cNvSpPr/>
          <p:nvPr/>
        </p:nvSpPr>
        <p:spPr>
          <a:xfrm>
            <a:off x="736600" y="59690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Recommendation</a:t>
            </a:r>
            <a:endParaRPr lang="en-US" sz="1300" dirty="0"/>
          </a:p>
        </p:txBody>
      </p:sp>
      <p:sp>
        <p:nvSpPr>
          <p:cNvPr id="54" name="Text 51"/>
          <p:cNvSpPr/>
          <p:nvPr/>
        </p:nvSpPr>
        <p:spPr>
          <a:xfrm>
            <a:off x="736600" y="6324600"/>
            <a:ext cx="14859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 with star schemas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most analytics marts — they are simpler to build, easier for BI tools to consume, and perform better for typical query patterns; 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Consider snowflake only when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you have clear evidence that normalization benefits (storage savings, hierarchy management) outweigh the added join complexity; 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cloud warehouses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handle joins efficiently, reducing the performance gap between star and snowflake designs; 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adoption matters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 schema that analysts cannot understand or query independently fails its primary purpose regardless of theoretical purity</a:t>
            </a:r>
            <a:endParaRPr lang="en-US" sz="1300" dirty="0"/>
          </a:p>
        </p:txBody>
      </p:sp>
      <p:sp>
        <p:nvSpPr>
          <p:cNvPr id="55" name="Shape 52"/>
          <p:cNvSpPr/>
          <p:nvPr/>
        </p:nvSpPr>
        <p:spPr>
          <a:xfrm>
            <a:off x="635000" y="83312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56" name="Text 53"/>
          <p:cNvSpPr/>
          <p:nvPr/>
        </p:nvSpPr>
        <p:spPr>
          <a:xfrm>
            <a:off x="635000" y="8432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Course Materials — Day 2 Full Guide, Section 5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15240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27000"/>
            <a:ext cx="50800" cy="685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87400" y="152400"/>
            <a:ext cx="146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264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Slowly Changing Dimensions determine how historical attribute changes are preserved for accurate reporting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35000" y="8636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965200"/>
            <a:ext cx="1498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8" name="Text 6"/>
          <p:cNvSpPr/>
          <p:nvPr/>
        </p:nvSpPr>
        <p:spPr>
          <a:xfrm>
            <a:off x="736600" y="9652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SCD Types — Behavior and When to Use Each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1295400"/>
          <a:ext cx="14986000" cy="2286000"/>
        </p:xfrm>
        <a:graphic>
          <a:graphicData uri="http://schemas.openxmlformats.org/drawingml/2006/table">
            <a:tbl>
              <a:tblPr/>
              <a:tblGrid>
                <a:gridCol w="1798320"/>
                <a:gridCol w="5245100"/>
                <a:gridCol w="4196080"/>
                <a:gridCol w="374650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Type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Behavior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When to Use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Trade-Off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Type 1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Overwrite old value; no history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Correcting typos, non-historical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Simplest; loses all history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Type 2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New version row; full history preserved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Historical reporting required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C996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Gold standard</a:t>
                      </a:r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; more storage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Type 3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Store limited previous value in columns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Track current + previous only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Limited history; extra columns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35000" y="3759200"/>
            <a:ext cx="7493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1" name="Shape 8"/>
          <p:cNvSpPr/>
          <p:nvPr/>
        </p:nvSpPr>
        <p:spPr>
          <a:xfrm>
            <a:off x="635000" y="3759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2" name="Text 9"/>
          <p:cNvSpPr/>
          <p:nvPr/>
        </p:nvSpPr>
        <p:spPr>
          <a:xfrm>
            <a:off x="736600" y="3759200"/>
            <a:ext cx="736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SCD Type 2 — The Standard Pattern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6600" y="4114800"/>
            <a:ext cx="72644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mechanism: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Uses a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surrogate key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separate from the business key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Stores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effective_start_date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effective_end_date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Marks current rows with a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current_flag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'Y'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Preserves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historical changes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a change is detected: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Close the current row (set end date, flag = 'N')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Insert a new row with updated values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New row gets current_flag = 'Y', end_date = 9999-12-31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55000" y="3759200"/>
            <a:ext cx="736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5" name="Shape 12"/>
          <p:cNvSpPr/>
          <p:nvPr/>
        </p:nvSpPr>
        <p:spPr>
          <a:xfrm>
            <a:off x="8255000" y="3759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6" name="Text 13"/>
          <p:cNvSpPr/>
          <p:nvPr/>
        </p:nvSpPr>
        <p:spPr>
          <a:xfrm>
            <a:off x="8356600" y="3759200"/>
            <a:ext cx="723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SCD Type 2 MERGE Implementation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255000" y="4089400"/>
            <a:ext cx="7366000" cy="24384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8" name="Text 15"/>
          <p:cNvSpPr/>
          <p:nvPr/>
        </p:nvSpPr>
        <p:spPr>
          <a:xfrm>
            <a:off x="8356600" y="4165600"/>
            <a:ext cx="7162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SCD Type 2 MERGE for customer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MERGE INTO dw.dim_customer AS tgt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stage_customer_delta AS src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 tgt.customer_id = src.customer_id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AND tgt.current_flag = 'Y'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MATCHED AND (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COALESCE(tgt.city,'') &lt;&gt;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COALESCE(src.city,'')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THEN UPDATE SET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effective_end_date = CURRENT_DATE-1,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current_flag = 'N'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NOT MATCHED THEN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INSERT (sk, id, name, city,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start_dt, end_dt, flag)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VALUES (NEXTVAL('seq'),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src.id, src.name, src.city,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CURRENT_DATE, '9999-12-31', 'Y');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35000" y="6705600"/>
            <a:ext cx="7493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0" name="Shape 17"/>
          <p:cNvSpPr/>
          <p:nvPr/>
        </p:nvSpPr>
        <p:spPr>
          <a:xfrm>
            <a:off x="635000" y="67056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1" name="Text 18"/>
          <p:cNvSpPr/>
          <p:nvPr/>
        </p:nvSpPr>
        <p:spPr>
          <a:xfrm>
            <a:off x="736600" y="6705600"/>
            <a:ext cx="736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SCD Type 2 Result Table Example</a:t>
            </a:r>
            <a:endParaRPr lang="en-US" sz="13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7035800"/>
          <a:ext cx="7493000" cy="1168400"/>
        </p:xfrm>
        <a:graphic>
          <a:graphicData uri="http://schemas.openxmlformats.org/drawingml/2006/table">
            <a:tbl>
              <a:tblPr/>
              <a:tblGrid>
                <a:gridCol w="1123950"/>
                <a:gridCol w="1123950"/>
                <a:gridCol w="1498600"/>
                <a:gridCol w="1498600"/>
                <a:gridCol w="1123950"/>
                <a:gridCol w="1123950"/>
              </a:tblGrid>
              <a:tr h="38557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SK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City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Start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Flag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8557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101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C001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Dubai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2024-01-01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2025-06-18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25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C996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102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C001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C996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Abu Dhabi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2025-06-19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9999-12-31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C996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  <p:sp>
        <p:nvSpPr>
          <p:cNvPr id="23" name="Shape 19"/>
          <p:cNvSpPr/>
          <p:nvPr/>
        </p:nvSpPr>
        <p:spPr>
          <a:xfrm>
            <a:off x="8255000" y="6705600"/>
            <a:ext cx="736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4" name="Shape 20"/>
          <p:cNvSpPr/>
          <p:nvPr/>
        </p:nvSpPr>
        <p:spPr>
          <a:xfrm>
            <a:off x="8255000" y="67056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5" name="Text 21"/>
          <p:cNvSpPr/>
          <p:nvPr/>
        </p:nvSpPr>
        <p:spPr>
          <a:xfrm>
            <a:off x="8356600" y="6705600"/>
            <a:ext cx="723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SCD Design Considerations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8356600" y="7061200"/>
            <a:ext cx="71374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 all attributes need Type 2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only track history for attributes that matter for reporting (e.g., customer segment, region). Status flags may use Type 1.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COALESCE in comparison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handles NULL values safely when detecting changes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 date convention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use 9999-12-31 for current rows to simplify BETWEEN queries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35000" y="83312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28" name="Text 24"/>
          <p:cNvSpPr/>
          <p:nvPr/>
        </p:nvSpPr>
        <p:spPr>
          <a:xfrm>
            <a:off x="635000" y="8432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Course Materials — Day 2 Full Guide, Section 6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15240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3" name="Text 1"/>
          <p:cNvSpPr/>
          <p:nvPr/>
        </p:nvSpPr>
        <p:spPr>
          <a:xfrm>
            <a:off x="10414000" y="2794000"/>
            <a:ext cx="5588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0" b="1" dirty="0">
                <a:solidFill>
                  <a:srgbClr val="FFFFFF">
                    <a:alpha val="10196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04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1016000" y="25400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spc="200" kern="0" dirty="0">
                <a:solidFill>
                  <a:srgbClr val="FFFFFF">
                    <a:alpha val="5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16000" y="3048000"/>
            <a:ext cx="1524000" cy="25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3302000"/>
            <a:ext cx="1143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Mastering ETL &amp; ELT Processes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16000" y="43180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>
                    <a:alpha val="7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Extraction, Transformation &amp; Loading Strategies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6000" y="4953000"/>
            <a:ext cx="990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extraction to loading: implementing production-grade data movement with the right patterns, strategies, and operational considerations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9080500"/>
            <a:ext cx="16256000" cy="63500"/>
          </a:xfrm>
          <a:prstGeom prst="rect">
            <a:avLst/>
          </a:prstGeom>
          <a:solidFill>
            <a:srgbClr val="C9963B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27000"/>
            <a:ext cx="50800" cy="685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87400" y="152400"/>
            <a:ext cx="146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264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Modern ETL and ELT patterns differ fundamentally in where transformation occurs and how raw data is preserved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35000" y="8636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965200"/>
            <a:ext cx="7493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8" name="Text 6"/>
          <p:cNvSpPr/>
          <p:nvPr/>
        </p:nvSpPr>
        <p:spPr>
          <a:xfrm>
            <a:off x="736600" y="965200"/>
            <a:ext cx="736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ETL/ELT Concept Matrix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1295400"/>
          <a:ext cx="7493000" cy="2794000"/>
        </p:xfrm>
        <a:graphic>
          <a:graphicData uri="http://schemas.openxmlformats.org/drawingml/2006/table">
            <a:tbl>
              <a:tblPr/>
              <a:tblGrid>
                <a:gridCol w="1873250"/>
                <a:gridCol w="2997200"/>
                <a:gridCol w="2622550"/>
              </a:tblGrid>
              <a:tr h="46659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Concept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Description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Example / Tool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66598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Extraction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Bring raw from sources to stage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Watermark filters, CDC connectors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598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Transformation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Convert to business-ready structures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SQL transforms, PySpark, dbt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66598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Loading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Write to dimensions, facts, marts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INSERT, MERGE, Delta writes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598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Orchestration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Control dependencies and retries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Airflow, Prefect, Dagster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6101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Monitoring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Track counts, failures, freshness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Datadog, custom dashboards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255000" y="965200"/>
            <a:ext cx="736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1" name="Shape 8"/>
          <p:cNvSpPr/>
          <p:nvPr/>
        </p:nvSpPr>
        <p:spPr>
          <a:xfrm>
            <a:off x="825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2" name="Text 9"/>
          <p:cNvSpPr/>
          <p:nvPr/>
        </p:nvSpPr>
        <p:spPr>
          <a:xfrm>
            <a:off x="8356600" y="965200"/>
            <a:ext cx="723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 ETL vs Modern ELT Architecture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55000" y="1320800"/>
            <a:ext cx="3556000" cy="27686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4" name="Shape 11"/>
          <p:cNvSpPr/>
          <p:nvPr/>
        </p:nvSpPr>
        <p:spPr>
          <a:xfrm>
            <a:off x="8255000" y="1320800"/>
            <a:ext cx="35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5" name="Text 12"/>
          <p:cNvSpPr/>
          <p:nvPr/>
        </p:nvSpPr>
        <p:spPr>
          <a:xfrm>
            <a:off x="8331200" y="1422400"/>
            <a:ext cx="34036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Traditional ETL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331200" y="1752600"/>
            <a:ext cx="3403600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Sources</a:t>
            </a:r>
            <a:endParaRPr lang="en-US" sz="1200" dirty="0"/>
          </a:p>
          <a:p>
            <a:pPr algn="l">
              <a:lnSpc>
                <a:spcPct val="17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↓</a:t>
            </a:r>
            <a:endParaRPr lang="en-US" sz="1200" dirty="0"/>
          </a:p>
          <a:p>
            <a:pPr algn="l">
              <a:lnSpc>
                <a:spcPct val="170000"/>
              </a:lnSpc>
            </a:pPr>
            <a:r>
              <a:rPr lang="en-US" sz="12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</a:t>
            </a:r>
            <a:endParaRPr lang="en-US" sz="1200" dirty="0"/>
          </a:p>
          <a:p>
            <a:pPr algn="l">
              <a:lnSpc>
                <a:spcPct val="17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↓</a:t>
            </a:r>
            <a:endParaRPr lang="en-US" sz="1200" dirty="0"/>
          </a:p>
          <a:p>
            <a:pPr algn="l">
              <a:lnSpc>
                <a:spcPct val="170000"/>
              </a:lnSpc>
            </a:pPr>
            <a:r>
              <a:rPr lang="en-US" sz="1200" b="1" dirty="0">
                <a:solidFill>
                  <a:srgbClr val="C996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 Outside Target</a:t>
            </a:r>
            <a:endParaRPr lang="en-US" sz="1200" dirty="0"/>
          </a:p>
          <a:p>
            <a:pPr algn="l">
              <a:lnSpc>
                <a:spcPct val="17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↓</a:t>
            </a:r>
            <a:endParaRPr lang="en-US" sz="1200" dirty="0"/>
          </a:p>
          <a:p>
            <a:pPr algn="l">
              <a:lnSpc>
                <a:spcPct val="170000"/>
              </a:lnSpc>
            </a:pPr>
            <a:r>
              <a:rPr lang="en-US" sz="12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 to Warehouse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2065000" y="1320800"/>
            <a:ext cx="3556000" cy="2768600"/>
          </a:xfrm>
          <a:prstGeom prst="rect">
            <a:avLst/>
          </a:prstGeom>
          <a:solidFill>
            <a:srgbClr val="FEF6E8"/>
          </a:solidFill>
          <a:ln/>
        </p:spPr>
      </p:sp>
      <p:sp>
        <p:nvSpPr>
          <p:cNvPr id="18" name="Shape 15"/>
          <p:cNvSpPr/>
          <p:nvPr/>
        </p:nvSpPr>
        <p:spPr>
          <a:xfrm>
            <a:off x="12065000" y="1320800"/>
            <a:ext cx="3556000" cy="50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9" name="Text 16"/>
          <p:cNvSpPr/>
          <p:nvPr/>
        </p:nvSpPr>
        <p:spPr>
          <a:xfrm>
            <a:off x="12141200" y="1422400"/>
            <a:ext cx="34036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C996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Modern ELT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2141200" y="1752600"/>
            <a:ext cx="3403600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Sources</a:t>
            </a:r>
            <a:endParaRPr lang="en-US" sz="1200" dirty="0"/>
          </a:p>
          <a:p>
            <a:pPr algn="l">
              <a:lnSpc>
                <a:spcPct val="17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↓</a:t>
            </a:r>
            <a:endParaRPr lang="en-US" sz="1200" dirty="0"/>
          </a:p>
          <a:p>
            <a:pPr algn="l">
              <a:lnSpc>
                <a:spcPct val="170000"/>
              </a:lnSpc>
            </a:pPr>
            <a:r>
              <a:rPr lang="en-US" sz="12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</a:t>
            </a:r>
            <a:endParaRPr lang="en-US" sz="1200" dirty="0"/>
          </a:p>
          <a:p>
            <a:pPr algn="l">
              <a:lnSpc>
                <a:spcPct val="17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↓</a:t>
            </a:r>
            <a:endParaRPr lang="en-US" sz="1200" dirty="0"/>
          </a:p>
          <a:p>
            <a:pPr algn="l">
              <a:lnSpc>
                <a:spcPct val="170000"/>
              </a:lnSpc>
            </a:pPr>
            <a:r>
              <a:rPr lang="en-US" sz="1200" b="1" dirty="0">
                <a:solidFill>
                  <a:srgbClr val="C996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 Raw to Target</a:t>
            </a:r>
            <a:endParaRPr lang="en-US" sz="1200" dirty="0"/>
          </a:p>
          <a:p>
            <a:pPr algn="l">
              <a:lnSpc>
                <a:spcPct val="17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↓</a:t>
            </a:r>
            <a:endParaRPr lang="en-US" sz="1200" dirty="0"/>
          </a:p>
          <a:p>
            <a:pPr algn="l">
              <a:lnSpc>
                <a:spcPct val="170000"/>
              </a:lnSpc>
            </a:pPr>
            <a:r>
              <a:rPr lang="en-US" sz="12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 in Warehouse</a:t>
            </a:r>
            <a:endParaRPr lang="en-US" sz="1200" dirty="0"/>
          </a:p>
          <a:p>
            <a:pPr algn="l">
              <a:lnSpc>
                <a:spcPct val="17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↓</a:t>
            </a:r>
            <a:endParaRPr lang="en-US" sz="1200" dirty="0"/>
          </a:p>
          <a:p>
            <a:pPr algn="l">
              <a:lnSpc>
                <a:spcPct val="17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Curated Models / Marts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35000" y="4267200"/>
            <a:ext cx="1498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2" name="Shape 19"/>
          <p:cNvSpPr/>
          <p:nvPr/>
        </p:nvSpPr>
        <p:spPr>
          <a:xfrm>
            <a:off x="635000" y="4267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3" name="Text 20"/>
          <p:cNvSpPr/>
          <p:nvPr/>
        </p:nvSpPr>
        <p:spPr>
          <a:xfrm>
            <a:off x="736600" y="42672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Batch ELT Flow — From Extraction to Analytics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35000" y="4622800"/>
            <a:ext cx="2159000" cy="762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5" name="Shape 22"/>
          <p:cNvSpPr/>
          <p:nvPr/>
        </p:nvSpPr>
        <p:spPr>
          <a:xfrm>
            <a:off x="635000" y="4622800"/>
            <a:ext cx="2159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6" name="Text 23"/>
          <p:cNvSpPr/>
          <p:nvPr/>
        </p:nvSpPr>
        <p:spPr>
          <a:xfrm>
            <a:off x="685800" y="4699000"/>
            <a:ext cx="2057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Orders Source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2819400" y="4978400"/>
            <a:ext cx="2286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28" name="Shape 25"/>
          <p:cNvSpPr/>
          <p:nvPr/>
        </p:nvSpPr>
        <p:spPr>
          <a:xfrm>
            <a:off x="3073400" y="4622800"/>
            <a:ext cx="2159000" cy="762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9" name="Text 26"/>
          <p:cNvSpPr/>
          <p:nvPr/>
        </p:nvSpPr>
        <p:spPr>
          <a:xfrm>
            <a:off x="3124200" y="4699000"/>
            <a:ext cx="2057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Incremental Extract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257800" y="4978400"/>
            <a:ext cx="2286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31" name="Shape 28"/>
          <p:cNvSpPr/>
          <p:nvPr/>
        </p:nvSpPr>
        <p:spPr>
          <a:xfrm>
            <a:off x="5511800" y="4622800"/>
            <a:ext cx="2159000" cy="762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32" name="Text 29"/>
          <p:cNvSpPr/>
          <p:nvPr/>
        </p:nvSpPr>
        <p:spPr>
          <a:xfrm>
            <a:off x="5562600" y="4699000"/>
            <a:ext cx="2057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Stage Orders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7696200" y="4978400"/>
            <a:ext cx="2286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34" name="Shape 31"/>
          <p:cNvSpPr/>
          <p:nvPr/>
        </p:nvSpPr>
        <p:spPr>
          <a:xfrm>
            <a:off x="7950200" y="4622800"/>
            <a:ext cx="2159000" cy="762000"/>
          </a:xfrm>
          <a:prstGeom prst="rect">
            <a:avLst/>
          </a:prstGeom>
          <a:solidFill>
            <a:srgbClr val="FEF6E8"/>
          </a:solidFill>
          <a:ln/>
        </p:spPr>
      </p:sp>
      <p:sp>
        <p:nvSpPr>
          <p:cNvPr id="35" name="Shape 32"/>
          <p:cNvSpPr/>
          <p:nvPr/>
        </p:nvSpPr>
        <p:spPr>
          <a:xfrm>
            <a:off x="7950200" y="4622800"/>
            <a:ext cx="2159000" cy="50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36" name="Text 33"/>
          <p:cNvSpPr/>
          <p:nvPr/>
        </p:nvSpPr>
        <p:spPr>
          <a:xfrm>
            <a:off x="8001000" y="4699000"/>
            <a:ext cx="2057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C996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Validation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10134600" y="4978400"/>
            <a:ext cx="2286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38" name="Shape 35"/>
          <p:cNvSpPr/>
          <p:nvPr/>
        </p:nvSpPr>
        <p:spPr>
          <a:xfrm>
            <a:off x="10388600" y="4622800"/>
            <a:ext cx="2159000" cy="762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39" name="Text 36"/>
          <p:cNvSpPr/>
          <p:nvPr/>
        </p:nvSpPr>
        <p:spPr>
          <a:xfrm>
            <a:off x="10439400" y="4699000"/>
            <a:ext cx="2057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 &amp; Enrich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12573000" y="4978400"/>
            <a:ext cx="2286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41" name="Shape 38"/>
          <p:cNvSpPr/>
          <p:nvPr/>
        </p:nvSpPr>
        <p:spPr>
          <a:xfrm>
            <a:off x="12827000" y="4622800"/>
            <a:ext cx="2794000" cy="762000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42" name="Shape 39"/>
          <p:cNvSpPr/>
          <p:nvPr/>
        </p:nvSpPr>
        <p:spPr>
          <a:xfrm>
            <a:off x="12827000" y="4622800"/>
            <a:ext cx="2794000" cy="50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3" name="Text 40"/>
          <p:cNvSpPr/>
          <p:nvPr/>
        </p:nvSpPr>
        <p:spPr>
          <a:xfrm>
            <a:off x="12877800" y="4699000"/>
            <a:ext cx="269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Fact &amp; Dim + Marts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7950200" y="5486400"/>
            <a:ext cx="2159000" cy="381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5" name="Text 42"/>
          <p:cNvSpPr/>
          <p:nvPr/>
        </p:nvSpPr>
        <p:spPr>
          <a:xfrm>
            <a:off x="8001000" y="5511800"/>
            <a:ext cx="20574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8899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↓ Reject / Quarantine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2827000" y="5486400"/>
            <a:ext cx="2794000" cy="381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7" name="Text 44"/>
          <p:cNvSpPr/>
          <p:nvPr/>
        </p:nvSpPr>
        <p:spPr>
          <a:xfrm>
            <a:off x="12877800" y="5511800"/>
            <a:ext cx="26924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8899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↓ Audit Metrics / Logs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635000" y="6070600"/>
            <a:ext cx="1498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49" name="Shape 46"/>
          <p:cNvSpPr/>
          <p:nvPr/>
        </p:nvSpPr>
        <p:spPr>
          <a:xfrm>
            <a:off x="635000" y="60706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50" name="Text 47"/>
          <p:cNvSpPr/>
          <p:nvPr/>
        </p:nvSpPr>
        <p:spPr>
          <a:xfrm>
            <a:off x="736600" y="60706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Streaming ETL/ELT Preview — Event-Driven Architecture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635000" y="6426200"/>
            <a:ext cx="2540000" cy="635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52" name="Text 49"/>
          <p:cNvSpPr/>
          <p:nvPr/>
        </p:nvSpPr>
        <p:spPr>
          <a:xfrm>
            <a:off x="685800" y="6477000"/>
            <a:ext cx="2438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 / Website / IoT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3200400" y="6705600"/>
            <a:ext cx="2540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54" name="Shape 51"/>
          <p:cNvSpPr/>
          <p:nvPr/>
        </p:nvSpPr>
        <p:spPr>
          <a:xfrm>
            <a:off x="3479800" y="6426200"/>
            <a:ext cx="2540000" cy="635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55" name="Text 52"/>
          <p:cNvSpPr/>
          <p:nvPr/>
        </p:nvSpPr>
        <p:spPr>
          <a:xfrm>
            <a:off x="3530600" y="6477000"/>
            <a:ext cx="2438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Broker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6045200" y="6705600"/>
            <a:ext cx="2540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57" name="Shape 54"/>
          <p:cNvSpPr/>
          <p:nvPr/>
        </p:nvSpPr>
        <p:spPr>
          <a:xfrm>
            <a:off x="6324600" y="6426200"/>
            <a:ext cx="2921000" cy="635000"/>
          </a:xfrm>
          <a:prstGeom prst="rect">
            <a:avLst/>
          </a:prstGeom>
          <a:solidFill>
            <a:srgbClr val="FEF6E8"/>
          </a:solidFill>
          <a:ln/>
        </p:spPr>
      </p:sp>
      <p:sp>
        <p:nvSpPr>
          <p:cNvPr id="58" name="Text 55"/>
          <p:cNvSpPr/>
          <p:nvPr/>
        </p:nvSpPr>
        <p:spPr>
          <a:xfrm>
            <a:off x="6375400" y="6477000"/>
            <a:ext cx="2819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C996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 Processing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9271000" y="6705600"/>
            <a:ext cx="2540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60" name="Shape 57"/>
          <p:cNvSpPr/>
          <p:nvPr/>
        </p:nvSpPr>
        <p:spPr>
          <a:xfrm>
            <a:off x="9550400" y="6426200"/>
            <a:ext cx="2921000" cy="635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61" name="Text 58"/>
          <p:cNvSpPr/>
          <p:nvPr/>
        </p:nvSpPr>
        <p:spPr>
          <a:xfrm>
            <a:off x="9601200" y="6477000"/>
            <a:ext cx="2819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Lakehouse / Warehouse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12496800" y="6705600"/>
            <a:ext cx="254000" cy="254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63" name="Shape 60"/>
          <p:cNvSpPr/>
          <p:nvPr/>
        </p:nvSpPr>
        <p:spPr>
          <a:xfrm>
            <a:off x="12776200" y="6426200"/>
            <a:ext cx="2844800" cy="635000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64" name="Text 61"/>
          <p:cNvSpPr/>
          <p:nvPr/>
        </p:nvSpPr>
        <p:spPr>
          <a:xfrm>
            <a:off x="12827000" y="6477000"/>
            <a:ext cx="2743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Dashboards / Alerts / ML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635000" y="7162800"/>
            <a:ext cx="149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Streaming considerations: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■ Event order and late arrival must be handled — not all events arrive in sequence; ■ Schema evolution must be controlled, often with a schema registry or data contract model; ■ Streaming complements batch rather than fully replacing it — most organizations use both; ■ Dead letter queues capture failed events for later inspection and reprocessing</a:t>
            </a:r>
            <a:endParaRPr lang="en-US" sz="1300" dirty="0"/>
          </a:p>
        </p:txBody>
      </p:sp>
      <p:sp>
        <p:nvSpPr>
          <p:cNvPr id="66" name="Shape 63"/>
          <p:cNvSpPr/>
          <p:nvPr/>
        </p:nvSpPr>
        <p:spPr>
          <a:xfrm>
            <a:off x="635000" y="83312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67" name="Text 64"/>
          <p:cNvSpPr/>
          <p:nvPr/>
        </p:nvSpPr>
        <p:spPr>
          <a:xfrm>
            <a:off x="635000" y="8432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Course Materials — Day 2 Full Guide, Sections 7, 12-13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15240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27000"/>
            <a:ext cx="50800" cy="685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87400" y="152400"/>
            <a:ext cx="146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264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Extraction strategy must match source characteristics, data size, and latency requirements for optimal performance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35000" y="8636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965200"/>
            <a:ext cx="1498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8" name="Text 6"/>
          <p:cNvSpPr/>
          <p:nvPr/>
        </p:nvSpPr>
        <p:spPr>
          <a:xfrm>
            <a:off x="736600" y="9652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Extraction Patterns — When to Use Each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1295400"/>
          <a:ext cx="14986000" cy="3048000"/>
        </p:xfrm>
        <a:graphic>
          <a:graphicData uri="http://schemas.openxmlformats.org/drawingml/2006/table">
            <a:tbl>
              <a:tblPr/>
              <a:tblGrid>
                <a:gridCol w="2697480"/>
                <a:gridCol w="5245100"/>
                <a:gridCol w="4046220"/>
                <a:gridCol w="2997200"/>
              </a:tblGrid>
              <a:tr h="43586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Pattern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Description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When to Use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Key Consideration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3586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Full Load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Reload entire dataset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Small/reference tables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Simplest; not scalable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586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Incremental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Only changed since last run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Large tables, small deltas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Needs watermark column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3586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CDC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Capture I/U/D from change logs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Low-impact OLTP replication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Requires ordering rules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586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Snapshot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Point-in-time state capture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Audit, SCD comparisons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Storage-intensive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3586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API Polling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Repeatedly call APIs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SaaS sources, external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Rate limits, pagination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816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Webhook / Push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Receive on event emission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Near real-time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Needs endpoint infra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35000" y="4521200"/>
            <a:ext cx="7493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1" name="Shape 8"/>
          <p:cNvSpPr/>
          <p:nvPr/>
        </p:nvSpPr>
        <p:spPr>
          <a:xfrm>
            <a:off x="635000" y="4521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2" name="Text 9"/>
          <p:cNvSpPr/>
          <p:nvPr/>
        </p:nvSpPr>
        <p:spPr>
          <a:xfrm>
            <a:off x="736600" y="4521200"/>
            <a:ext cx="736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Incremental Load Flow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6600" y="4876800"/>
            <a:ext cx="72644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Check watermark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Read last successful extraction timestamp from metadata store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Extract delta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Query source for records WHERE updated_at &gt; watermark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Stage delta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Load extracted records into staging table with batch metadata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Apply MERGE/UPSERT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Insert new records, update changed records in target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 Update watermark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Record new maximum updated_at for next run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6. Audit metrics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Log row counts, duration, and any errors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55000" y="4521200"/>
            <a:ext cx="736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5" name="Shape 12"/>
          <p:cNvSpPr/>
          <p:nvPr/>
        </p:nvSpPr>
        <p:spPr>
          <a:xfrm>
            <a:off x="8255000" y="4521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6" name="Text 13"/>
          <p:cNvSpPr/>
          <p:nvPr/>
        </p:nvSpPr>
        <p:spPr>
          <a:xfrm>
            <a:off x="8356600" y="4521200"/>
            <a:ext cx="723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Incremental Extraction SQL Example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255000" y="4851400"/>
            <a:ext cx="7366000" cy="1651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8" name="Text 15"/>
          <p:cNvSpPr/>
          <p:nvPr/>
        </p:nvSpPr>
        <p:spPr>
          <a:xfrm>
            <a:off x="8356600" y="4927600"/>
            <a:ext cx="7162800" cy="149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Incremental extraction with watermark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 order_id, customer_id,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order_date, total_amount, updated_at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Orders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updated_at &gt; TIMESTAMP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'2026-01-01 00:00:00';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55000" y="6604000"/>
            <a:ext cx="736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requirement: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source table must have a reliable timestamp column (updated_at) or an auto-incrementing ID that indicates record modification order.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35000" y="7086600"/>
            <a:ext cx="1498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1" name="Shape 18"/>
          <p:cNvSpPr/>
          <p:nvPr/>
        </p:nvSpPr>
        <p:spPr>
          <a:xfrm>
            <a:off x="635000" y="70866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2" name="Text 19"/>
          <p:cNvSpPr/>
          <p:nvPr/>
        </p:nvSpPr>
        <p:spPr>
          <a:xfrm>
            <a:off x="736600" y="70866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Extraction Pattern Selection Framework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6600" y="7442200"/>
            <a:ext cx="14859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Small tables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(&lt; 1M rows) → Full load; ■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Large tables with timestamp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Incremental load; ■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OLTP replication needed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CDC; ■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SaaS platforms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API polling with pagination; ■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events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Webhook or streaming; ■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Historical audit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Periodic snapshots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35000" y="83312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25" name="Text 22"/>
          <p:cNvSpPr/>
          <p:nvPr/>
        </p:nvSpPr>
        <p:spPr>
          <a:xfrm>
            <a:off x="635000" y="8432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Course Materials — Day 2 Full Guide, Section 8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5240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27000"/>
            <a:ext cx="50800" cy="685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87400" y="152400"/>
            <a:ext cx="146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264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Transformation cleanses and enriches raw data, while loading strategy drives performance, complexity, and recoverability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35000" y="8636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965200"/>
            <a:ext cx="7493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8" name="Text 6"/>
          <p:cNvSpPr/>
          <p:nvPr/>
        </p:nvSpPr>
        <p:spPr>
          <a:xfrm>
            <a:off x="736600" y="965200"/>
            <a:ext cx="736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Transformation Types in Data Engineering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1295400"/>
          <a:ext cx="7493000" cy="2667000"/>
        </p:xfrm>
        <a:graphic>
          <a:graphicData uri="http://schemas.openxmlformats.org/drawingml/2006/table">
            <a:tbl>
              <a:tblPr/>
              <a:tblGrid>
                <a:gridCol w="1873250"/>
                <a:gridCol w="2997200"/>
                <a:gridCol w="2622550"/>
              </a:tblGrid>
              <a:tr h="44538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Type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Description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Example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45389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Standardization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Make values consistent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Upper/lower casing, timestamps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389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Cleansing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Fix or isolate bad values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Null handling, quarantine tables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45389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Enrichment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Add context from reference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Country-to-region mapping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389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Derivation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Calculate business metrics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Revenue, margin, load factor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Deduplication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Remove duplicate events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ROW_NUMBER, hash matching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255000" y="965200"/>
            <a:ext cx="736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1" name="Shape 8"/>
          <p:cNvSpPr/>
          <p:nvPr/>
        </p:nvSpPr>
        <p:spPr>
          <a:xfrm>
            <a:off x="825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2" name="Text 9"/>
          <p:cNvSpPr/>
          <p:nvPr/>
        </p:nvSpPr>
        <p:spPr>
          <a:xfrm>
            <a:off x="8356600" y="965200"/>
            <a:ext cx="723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Load vs Incremental Load</a:t>
            </a:r>
            <a:endParaRPr lang="en-US" sz="13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0" y="1295400"/>
          <a:ext cx="7366000" cy="2667000"/>
        </p:xfrm>
        <a:graphic>
          <a:graphicData uri="http://schemas.openxmlformats.org/drawingml/2006/table">
            <a:tbl>
              <a:tblPr/>
              <a:tblGrid>
                <a:gridCol w="2062480"/>
                <a:gridCol w="2651760"/>
                <a:gridCol w="2651760"/>
              </a:tblGrid>
              <a:tr h="44538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Criterion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Full Load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Incremental Load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45389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 Volume Fit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Small or periodic resets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Large data, modest changes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389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Complexity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C996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Lower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Higher — state tracking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45389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Runtime / Network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Higher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C996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Lower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389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Recovery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Rerun entirely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Needs watermark replay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 Example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Small reference table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Large orders/events table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635000" y="4165600"/>
            <a:ext cx="7493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5" name="Shape 11"/>
          <p:cNvSpPr/>
          <p:nvPr/>
        </p:nvSpPr>
        <p:spPr>
          <a:xfrm>
            <a:off x="635000" y="41656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6" name="Text 12"/>
          <p:cNvSpPr/>
          <p:nvPr/>
        </p:nvSpPr>
        <p:spPr>
          <a:xfrm>
            <a:off x="736600" y="4165600"/>
            <a:ext cx="736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Transformation SQL Example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35000" y="4495800"/>
            <a:ext cx="7493000" cy="2032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8" name="Text 14"/>
          <p:cNvSpPr/>
          <p:nvPr/>
        </p:nvSpPr>
        <p:spPr>
          <a:xfrm>
            <a:off x="736600" y="4572000"/>
            <a:ext cx="72898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Standardization + enrichment + derivation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 o.order_id, o.customer_id,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CAST(o.order_date AS DATE),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UPPER(c.country) AS country,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CASE WHEN c.country IN ('UAE','KSA')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THEN 'GCC' ELSE 'OTHER'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END AS region,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o.total_amount,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o.total_amount * 0.05 AS commission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stage_orders o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LEFT JOIN dim_customer_ref c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ON o.customer_id = c.customer_id;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255000" y="4165600"/>
            <a:ext cx="736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0" name="Shape 16"/>
          <p:cNvSpPr/>
          <p:nvPr/>
        </p:nvSpPr>
        <p:spPr>
          <a:xfrm>
            <a:off x="8255000" y="41656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1" name="Text 17"/>
          <p:cNvSpPr/>
          <p:nvPr/>
        </p:nvSpPr>
        <p:spPr>
          <a:xfrm>
            <a:off x="8356600" y="4165600"/>
            <a:ext cx="723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Quarantine Strategy for Failed Validations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8356600" y="4521200"/>
            <a:ext cx="7137400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quarantine matters: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Failed records should never be silently dropped. A quarantine table preserves them for review, debugging, and potential reprocessing.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Quarantine table structure: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Original record data (as JSON or columns)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Failure reason (duplicate, null, bad code)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Batch ID and timestamp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Resolution status (open, resolved, ignored)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35000" y="6705600"/>
            <a:ext cx="14986000" cy="6096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4" name="Text 20"/>
          <p:cNvSpPr/>
          <p:nvPr/>
        </p:nvSpPr>
        <p:spPr>
          <a:xfrm>
            <a:off x="838200" y="6705600"/>
            <a:ext cx="1460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Principle: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choice between full and incremental loading is one of the most consequential design decisions in data engineering — it affects runtime, cost, complexity, and recoverability. Most production systems use a hybrid approach.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35000" y="7493000"/>
            <a:ext cx="1498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6" name="Shape 22"/>
          <p:cNvSpPr/>
          <p:nvPr/>
        </p:nvSpPr>
        <p:spPr>
          <a:xfrm>
            <a:off x="635000" y="74930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7" name="Text 23"/>
          <p:cNvSpPr/>
          <p:nvPr/>
        </p:nvSpPr>
        <p:spPr>
          <a:xfrm>
            <a:off x="736600" y="74930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Loading Best Practices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736600" y="7848600"/>
            <a:ext cx="14859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Always load dimensions before facts; ■ Use transactions or atomic operations where possible; ■ Design for idempotency — same input produces same output; ■ Record comprehensive audit metrics; ■ Implement quarantine for failed records; ■ Test load logic with small datasets before production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635000" y="83312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30" name="Text 26"/>
          <p:cNvSpPr/>
          <p:nvPr/>
        </p:nvSpPr>
        <p:spPr>
          <a:xfrm>
            <a:off x="635000" y="8432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Course Materials — Day 2 Full Guide, Sections 9-10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5240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3" name="Text 1"/>
          <p:cNvSpPr/>
          <p:nvPr/>
        </p:nvSpPr>
        <p:spPr>
          <a:xfrm>
            <a:off x="10414000" y="2794000"/>
            <a:ext cx="5588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0" b="1" dirty="0">
                <a:solidFill>
                  <a:srgbClr val="FFFFFF">
                    <a:alpha val="10196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05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1016000" y="25400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spc="200" kern="0" dirty="0">
                <a:solidFill>
                  <a:srgbClr val="FFFFFF">
                    <a:alpha val="5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16000" y="3048000"/>
            <a:ext cx="1524000" cy="25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3302000"/>
            <a:ext cx="1143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Modern Architecture &amp; Data Governance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16000" y="43180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>
                    <a:alpha val="7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 Pipelines, Cloud Platforms, Governance &amp; Future Trends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6000" y="4953000"/>
            <a:ext cx="990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scalable pipelines, leveraging cloud-native and distributed computing platforms, establishing data governance frameworks, and understanding emerging trends that will shape the future of data engineering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9080500"/>
            <a:ext cx="16256000" cy="63500"/>
          </a:xfrm>
          <a:prstGeom prst="rect">
            <a:avLst/>
          </a:prstGeom>
          <a:solidFill>
            <a:srgbClr val="C9963B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27000"/>
            <a:ext cx="50800" cy="685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87400" y="152400"/>
            <a:ext cx="146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264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Robust data pipelines require architectural blueprints for scalability, orchestration, and operational resilience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35000" y="8636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965200"/>
            <a:ext cx="482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8" name="Text 6"/>
          <p:cNvSpPr/>
          <p:nvPr/>
        </p:nvSpPr>
        <p:spPr>
          <a:xfrm>
            <a:off x="736600" y="965200"/>
            <a:ext cx="469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 Orchestration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6600" y="1320800"/>
            <a:ext cx="46228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DAG Design Principles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Define clear task dependencies — each task knows its upstream and downstream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Use directed acyclic graphs to prevent circular dependencies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Group related tasks into logical stages (extract, validate, transform, load)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Support backfills — ability to rerun historical periods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Schedule with timezone awareness and holiday handling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15000" y="965200"/>
            <a:ext cx="482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1" name="Shape 9"/>
          <p:cNvSpPr/>
          <p:nvPr/>
        </p:nvSpPr>
        <p:spPr>
          <a:xfrm>
            <a:off x="571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2" name="Text 10"/>
          <p:cNvSpPr/>
          <p:nvPr/>
        </p:nvSpPr>
        <p:spPr>
          <a:xfrm>
            <a:off x="5816600" y="965200"/>
            <a:ext cx="469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Handling &amp; Retries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16600" y="1320800"/>
            <a:ext cx="46228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Resilience Patterns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Exponential backoff for transient failures (network, rate limits)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Max retry limits to prevent infinite loops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Circuit breaker pattern — stop calling failing services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Dead letter queues for unprocessable records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Graceful degradation — partial success vs all-or-nothing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795000" y="965200"/>
            <a:ext cx="482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5" name="Shape 13"/>
          <p:cNvSpPr/>
          <p:nvPr/>
        </p:nvSpPr>
        <p:spPr>
          <a:xfrm>
            <a:off x="1079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6" name="Text 14"/>
          <p:cNvSpPr/>
          <p:nvPr/>
        </p:nvSpPr>
        <p:spPr>
          <a:xfrm>
            <a:off x="10896600" y="965200"/>
            <a:ext cx="469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Monitoring &amp; Alerting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896600" y="1320800"/>
            <a:ext cx="46228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Observability Stack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Pipeline logs — structured, searchable, correlated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Metrics — row counts, duration, failure rates, latency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SLA monitoring — data freshness thresholds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Automated alerts — PagerDuty, Slack, email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Dashboards — real-time pipeline health views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000" y="4013200"/>
            <a:ext cx="1498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9" name="Shape 17"/>
          <p:cNvSpPr/>
          <p:nvPr/>
        </p:nvSpPr>
        <p:spPr>
          <a:xfrm>
            <a:off x="635000" y="4013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0" name="Text 18"/>
          <p:cNvSpPr/>
          <p:nvPr/>
        </p:nvSpPr>
        <p:spPr>
          <a:xfrm>
            <a:off x="736600" y="40132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Architecture Patterns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5000" y="4368800"/>
            <a:ext cx="4699000" cy="1778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2" name="Shape 20"/>
          <p:cNvSpPr/>
          <p:nvPr/>
        </p:nvSpPr>
        <p:spPr>
          <a:xfrm>
            <a:off x="635000" y="4368800"/>
            <a:ext cx="4699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3" name="Text 21"/>
          <p:cNvSpPr/>
          <p:nvPr/>
        </p:nvSpPr>
        <p:spPr>
          <a:xfrm>
            <a:off x="736600" y="4495800"/>
            <a:ext cx="4495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Medallion Architecture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6600" y="4826000"/>
            <a:ext cx="4495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Bronze</a:t>
            </a:r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Raw ingestion (source fidelity)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Silver</a:t>
            </a:r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Cleansed, validated, conformed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Gold</a:t>
            </a:r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Business-ready aggregates and marts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Clear quality escalation at each layer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588000" y="4368800"/>
            <a:ext cx="4699000" cy="1778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6" name="Shape 24"/>
          <p:cNvSpPr/>
          <p:nvPr/>
        </p:nvSpPr>
        <p:spPr>
          <a:xfrm>
            <a:off x="5588000" y="4368800"/>
            <a:ext cx="4699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7" name="Text 25"/>
          <p:cNvSpPr/>
          <p:nvPr/>
        </p:nvSpPr>
        <p:spPr>
          <a:xfrm>
            <a:off x="5689600" y="4495800"/>
            <a:ext cx="4495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Lambda Architecture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89600" y="4826000"/>
            <a:ext cx="4495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Batch layer</a:t>
            </a:r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comprehensive, accurate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Speed layer</a:t>
            </a:r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real-time approximations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Serving layer</a:t>
            </a:r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merges both views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Complex but handles all latencies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541000" y="4368800"/>
            <a:ext cx="5080000" cy="1778000"/>
          </a:xfrm>
          <a:prstGeom prst="rect">
            <a:avLst/>
          </a:prstGeom>
          <a:solidFill>
            <a:srgbClr val="FEF6E8"/>
          </a:solidFill>
          <a:ln/>
        </p:spPr>
      </p:sp>
      <p:sp>
        <p:nvSpPr>
          <p:cNvPr id="30" name="Shape 28"/>
          <p:cNvSpPr/>
          <p:nvPr/>
        </p:nvSpPr>
        <p:spPr>
          <a:xfrm>
            <a:off x="10541000" y="4368800"/>
            <a:ext cx="5080000" cy="50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31" name="Text 29"/>
          <p:cNvSpPr/>
          <p:nvPr/>
        </p:nvSpPr>
        <p:spPr>
          <a:xfrm>
            <a:off x="10642600" y="4495800"/>
            <a:ext cx="4876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996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Kappa Architecture (Modern)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642600" y="4826000"/>
            <a:ext cx="4876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streaming layer</a:t>
            </a:r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all processing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Treats everything as an event stream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Reprocessing by replaying the log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Simpler than Lambda; needs robust streaming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5000" y="6350000"/>
            <a:ext cx="1498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34" name="Shape 32"/>
          <p:cNvSpPr/>
          <p:nvPr/>
        </p:nvSpPr>
        <p:spPr>
          <a:xfrm>
            <a:off x="635000" y="63500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35" name="Text 33"/>
          <p:cNvSpPr/>
          <p:nvPr/>
        </p:nvSpPr>
        <p:spPr>
          <a:xfrm>
            <a:off x="736600" y="63500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Pipeline Checklist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36600" y="6705600"/>
            <a:ext cx="1485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Idempotency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Same input always produces same output; safe to rerun; 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Schema evolution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Handle new columns, type changes, and missing fields gracefully; 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contracts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Agree on schema, quality, and SLA expectations between producers and consumers; 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CI/CD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Automated testing and deployment of pipeline code; 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 monitoring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Track compute and storage spend per pipeline; ■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Documentation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Every pipeline must have owner, purpose, dependencies, and runbook documented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35000" y="83312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38" name="Text 36"/>
          <p:cNvSpPr/>
          <p:nvPr/>
        </p:nvSpPr>
        <p:spPr>
          <a:xfrm>
            <a:off x="635000" y="8432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Course Materials — Day 3 Outline, Section 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5240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27000"/>
            <a:ext cx="50800" cy="685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87400" y="152400"/>
            <a:ext cx="146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264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Cloud-native warehousing and distributed computing have fundamentally transformed data processing capabilities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35000" y="8636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965200"/>
            <a:ext cx="7493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8" name="Text 6"/>
          <p:cNvSpPr/>
          <p:nvPr/>
        </p:nvSpPr>
        <p:spPr>
          <a:xfrm>
            <a:off x="736600" y="965200"/>
            <a:ext cx="736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Cloud-Native Data Warehousing Platforms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1295400"/>
          <a:ext cx="7493000" cy="2667000"/>
        </p:xfrm>
        <a:graphic>
          <a:graphicData uri="http://schemas.openxmlformats.org/drawingml/2006/table">
            <a:tbl>
              <a:tblPr/>
              <a:tblGrid>
                <a:gridCol w="1648460"/>
                <a:gridCol w="2247900"/>
                <a:gridCol w="1798320"/>
                <a:gridCol w="1798320"/>
              </a:tblGrid>
              <a:tr h="44538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Platform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Key Strength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Model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Best For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45389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Snowflake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True separation of compute/storage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SaaS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Multi-workload analytics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389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BigQuery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Serverless, GCP-native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Serverless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GCP ecosystems, ad-hoc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45389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Databricks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Lakehouse + Spark unified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PaaS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ML + ETL combined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389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Azure Synapse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Integrated with Microsoft stack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PaaS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Enterprise Microsoft shops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Redshift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AWS-native, cost-effective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PaaS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AWS-centric architectures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255000" y="965200"/>
            <a:ext cx="736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1" name="Shape 8"/>
          <p:cNvSpPr/>
          <p:nvPr/>
        </p:nvSpPr>
        <p:spPr>
          <a:xfrm>
            <a:off x="825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2" name="Text 9"/>
          <p:cNvSpPr/>
          <p:nvPr/>
        </p:nvSpPr>
        <p:spPr>
          <a:xfrm>
            <a:off x="8356600" y="965200"/>
            <a:ext cx="723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Distributed Computing Frameworks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356600" y="1320800"/>
            <a:ext cx="7137400" cy="264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Apache Spark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Unified analytics engine for large-scale data processing. Supports batch, streaming, SQL, and ML. Runs on clusters or serverless.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 Table Formats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Delta Lake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ACID transactions on data lakes, time travel, schema enforcement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Apache Iceberg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Open table format with partition evolution, hidden partitioning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Apache Hudi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Stream processing + data lakes with incremental processing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 Engines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Presto/Trino, Apache Druid, ClickHouse — high-performance analytics on distributed data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35000" y="4140200"/>
            <a:ext cx="1498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5" name="Shape 12"/>
          <p:cNvSpPr/>
          <p:nvPr/>
        </p:nvSpPr>
        <p:spPr>
          <a:xfrm>
            <a:off x="635000" y="4140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6" name="Text 13"/>
          <p:cNvSpPr/>
          <p:nvPr/>
        </p:nvSpPr>
        <p:spPr>
          <a:xfrm>
            <a:off x="736600" y="41402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Paradigm Shifts in Cloud-Native Data Engineering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35000" y="4495800"/>
            <a:ext cx="3556000" cy="1651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8" name="Shape 15"/>
          <p:cNvSpPr/>
          <p:nvPr/>
        </p:nvSpPr>
        <p:spPr>
          <a:xfrm>
            <a:off x="635000" y="4495800"/>
            <a:ext cx="35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736600" y="4597400"/>
            <a:ext cx="3352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Storage / Compute Separation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36600" y="4927600"/>
            <a:ext cx="33528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 storage and compute independently. Pay only for what you use. No more over-provisioned clusters.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445000" y="4495800"/>
            <a:ext cx="3556000" cy="1651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2" name="Shape 19"/>
          <p:cNvSpPr/>
          <p:nvPr/>
        </p:nvSpPr>
        <p:spPr>
          <a:xfrm>
            <a:off x="4445000" y="4495800"/>
            <a:ext cx="35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3" name="Text 20"/>
          <p:cNvSpPr/>
          <p:nvPr/>
        </p:nvSpPr>
        <p:spPr>
          <a:xfrm>
            <a:off x="4546600" y="4597400"/>
            <a:ext cx="3352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Elastic Scaling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546600" y="4927600"/>
            <a:ext cx="33528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Auto-scale compute up for peak loads, down for idle periods. No manual cluster resizing.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255000" y="4495800"/>
            <a:ext cx="3556000" cy="1651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6" name="Shape 23"/>
          <p:cNvSpPr/>
          <p:nvPr/>
        </p:nvSpPr>
        <p:spPr>
          <a:xfrm>
            <a:off x="8255000" y="4495800"/>
            <a:ext cx="35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7" name="Text 24"/>
          <p:cNvSpPr/>
          <p:nvPr/>
        </p:nvSpPr>
        <p:spPr>
          <a:xfrm>
            <a:off x="8356600" y="4597400"/>
            <a:ext cx="3352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Pay-Per-Use Models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356600" y="4927600"/>
            <a:ext cx="33528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Shift from CapEx (buying hardware) to OpEx (paying for usage). Transparent cost per query.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12065000" y="4495800"/>
            <a:ext cx="3556000" cy="1651000"/>
          </a:xfrm>
          <a:prstGeom prst="rect">
            <a:avLst/>
          </a:prstGeom>
          <a:solidFill>
            <a:srgbClr val="FEF6E8"/>
          </a:solidFill>
          <a:ln/>
        </p:spPr>
      </p:sp>
      <p:sp>
        <p:nvSpPr>
          <p:cNvPr id="30" name="Shape 27"/>
          <p:cNvSpPr/>
          <p:nvPr/>
        </p:nvSpPr>
        <p:spPr>
          <a:xfrm>
            <a:off x="12065000" y="4495800"/>
            <a:ext cx="3556000" cy="50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31" name="Text 28"/>
          <p:cNvSpPr/>
          <p:nvPr/>
        </p:nvSpPr>
        <p:spPr>
          <a:xfrm>
            <a:off x="12166600" y="4597400"/>
            <a:ext cx="3352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996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Open Table Formats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2166600" y="4927600"/>
            <a:ext cx="33528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Delta Lake, Iceberg, Hudi bring ACID, schema evolution, and time travel to data lakes.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35000" y="6350000"/>
            <a:ext cx="1498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34" name="Shape 31"/>
          <p:cNvSpPr/>
          <p:nvPr/>
        </p:nvSpPr>
        <p:spPr>
          <a:xfrm>
            <a:off x="635000" y="63500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35" name="Text 32"/>
          <p:cNvSpPr/>
          <p:nvPr/>
        </p:nvSpPr>
        <p:spPr>
          <a:xfrm>
            <a:off x="736600" y="63500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On-Premise vs Cloud-Native Comparison</a:t>
            </a:r>
            <a:endParaRPr lang="en-US" sz="130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6680200"/>
          <a:ext cx="14986000" cy="1524000"/>
        </p:xfrm>
        <a:graphic>
          <a:graphicData uri="http://schemas.openxmlformats.org/drawingml/2006/table">
            <a:tbl>
              <a:tblPr/>
              <a:tblGrid>
                <a:gridCol w="3746500"/>
                <a:gridCol w="5619750"/>
                <a:gridCol w="561975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Dimension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On-Premise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Cloud-Native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Provisioning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Weeks to months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C996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Minutes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Scaling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Manual, disruptive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C996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Automatic, elastic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Cost Model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Upfront CapEx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C996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Usage-based OpEx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Shape 33"/>
          <p:cNvSpPr/>
          <p:nvPr/>
        </p:nvSpPr>
        <p:spPr>
          <a:xfrm>
            <a:off x="635000" y="83312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38" name="Text 34"/>
          <p:cNvSpPr/>
          <p:nvPr/>
        </p:nvSpPr>
        <p:spPr>
          <a:xfrm>
            <a:off x="635000" y="8432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Course Materials — Day 3 Outline, Section 5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15240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27000"/>
            <a:ext cx="50800" cy="685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87400" y="152400"/>
            <a:ext cx="146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264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 governance, security, and compliance form the foundation of trustworthy and sustainable data engineering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35000" y="8636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965200"/>
            <a:ext cx="7493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8" name="Text 6"/>
          <p:cNvSpPr/>
          <p:nvPr/>
        </p:nvSpPr>
        <p:spPr>
          <a:xfrm>
            <a:off x="736600" y="965200"/>
            <a:ext cx="736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Governance Framework — Five Core Pillars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1295400"/>
          <a:ext cx="7493000" cy="3429000"/>
        </p:xfrm>
        <a:graphic>
          <a:graphicData uri="http://schemas.openxmlformats.org/drawingml/2006/table">
            <a:tbl>
              <a:tblPr/>
              <a:tblGrid>
                <a:gridCol w="1648460"/>
                <a:gridCol w="2997200"/>
                <a:gridCol w="2847340"/>
              </a:tblGrid>
              <a:tr h="49720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Pillar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Description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Key Practices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Ownership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Clear accountability for data assets across domains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 stewards, domain owners, stewardship councils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Access Control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Role-based access control (RBAC) and least-privilege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IAM policies, row-level security, column masking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Classification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Tagging data by sensitivity and regulatory scope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Public, internal, confidential, restricted labels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Lineage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Tracking data flow from source to consumption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Column-level lineage, impact analysis, metadata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Compliance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Adhering to regulatory and industry standards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GDPR, CCPA, HIPAA, SOC2, audit trails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Quality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Measuring and enforcing data accuracy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Completeness, freshness, schema validation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255000" y="965200"/>
            <a:ext cx="736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1" name="Shape 8"/>
          <p:cNvSpPr/>
          <p:nvPr/>
        </p:nvSpPr>
        <p:spPr>
          <a:xfrm>
            <a:off x="825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2" name="Text 9"/>
          <p:cNvSpPr/>
          <p:nvPr/>
        </p:nvSpPr>
        <p:spPr>
          <a:xfrm>
            <a:off x="8356600" y="965200"/>
            <a:ext cx="723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Practices for Data Engineering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55000" y="1295400"/>
            <a:ext cx="3556000" cy="1524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4" name="Shape 11"/>
          <p:cNvSpPr/>
          <p:nvPr/>
        </p:nvSpPr>
        <p:spPr>
          <a:xfrm>
            <a:off x="8255000" y="1295400"/>
            <a:ext cx="35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5" name="Text 12"/>
          <p:cNvSpPr/>
          <p:nvPr/>
        </p:nvSpPr>
        <p:spPr>
          <a:xfrm>
            <a:off x="8356600" y="1397000"/>
            <a:ext cx="3352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Encryption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356600" y="1701800"/>
            <a:ext cx="3352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Encrypted storage at rest, TLS in transit. Key management via HSM or cloud KMS.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2065000" y="1295400"/>
            <a:ext cx="3556000" cy="1524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8" name="Shape 15"/>
          <p:cNvSpPr/>
          <p:nvPr/>
        </p:nvSpPr>
        <p:spPr>
          <a:xfrm>
            <a:off x="12065000" y="1295400"/>
            <a:ext cx="35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12166600" y="1397000"/>
            <a:ext cx="3352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Network Isolation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2166600" y="1701800"/>
            <a:ext cx="3352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VPCs, private endpoints, and subnet rules restrict access. Air-gapped environments for sensitive data. Zero-trust architecture.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255000" y="2971800"/>
            <a:ext cx="3556000" cy="1524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55000" y="2971800"/>
            <a:ext cx="3556000" cy="50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3" name="Text 20"/>
          <p:cNvSpPr/>
          <p:nvPr/>
        </p:nvSpPr>
        <p:spPr>
          <a:xfrm>
            <a:off x="8356600" y="3073400"/>
            <a:ext cx="3352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996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Identity Management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356600" y="3378200"/>
            <a:ext cx="3352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SSO integration, multi-factor authentication, service principals for pipelines. Regular access reviews and de-provisioning.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2065000" y="2971800"/>
            <a:ext cx="3556000" cy="1524000"/>
          </a:xfrm>
          <a:prstGeom prst="rect">
            <a:avLst/>
          </a:prstGeom>
          <a:solidFill>
            <a:srgbClr val="FEF6E8"/>
          </a:solidFill>
          <a:ln/>
        </p:spPr>
      </p:sp>
      <p:sp>
        <p:nvSpPr>
          <p:cNvPr id="26" name="Shape 23"/>
          <p:cNvSpPr/>
          <p:nvPr/>
        </p:nvSpPr>
        <p:spPr>
          <a:xfrm>
            <a:off x="12065000" y="2971800"/>
            <a:ext cx="3556000" cy="50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7" name="Text 24"/>
          <p:cNvSpPr/>
          <p:nvPr/>
        </p:nvSpPr>
        <p:spPr>
          <a:xfrm>
            <a:off x="12166600" y="3073400"/>
            <a:ext cx="3352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996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Audit Logging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2166600" y="3378200"/>
            <a:ext cx="3352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 trails for all access and changes. Immutable logs with retention policies.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35000" y="4902200"/>
            <a:ext cx="1498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30" name="Shape 27"/>
          <p:cNvSpPr/>
          <p:nvPr/>
        </p:nvSpPr>
        <p:spPr>
          <a:xfrm>
            <a:off x="635000" y="4902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31" name="Text 28"/>
          <p:cNvSpPr/>
          <p:nvPr/>
        </p:nvSpPr>
        <p:spPr>
          <a:xfrm>
            <a:off x="736600" y="49022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Governance Lifecycle — Policy to Enforcement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35000" y="5257800"/>
            <a:ext cx="2794000" cy="1270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3" name="Text 30"/>
          <p:cNvSpPr/>
          <p:nvPr/>
        </p:nvSpPr>
        <p:spPr>
          <a:xfrm>
            <a:off x="736600" y="5334000"/>
            <a:ext cx="2590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1. Define Policy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736600" y="5664200"/>
            <a:ext cx="2590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Establish policies, standards, and classification rules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3429000" y="5765800"/>
            <a:ext cx="381000" cy="25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36" name="Shape 33"/>
          <p:cNvSpPr/>
          <p:nvPr/>
        </p:nvSpPr>
        <p:spPr>
          <a:xfrm>
            <a:off x="3810000" y="5257800"/>
            <a:ext cx="2794000" cy="1270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37" name="Shape 34"/>
          <p:cNvSpPr/>
          <p:nvPr/>
        </p:nvSpPr>
        <p:spPr>
          <a:xfrm>
            <a:off x="3810000" y="5257800"/>
            <a:ext cx="2794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8" name="Text 35"/>
          <p:cNvSpPr/>
          <p:nvPr/>
        </p:nvSpPr>
        <p:spPr>
          <a:xfrm>
            <a:off x="3911600" y="5334000"/>
            <a:ext cx="2590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 Implement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3911600" y="5664200"/>
            <a:ext cx="2590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 RBAC, encryption, and masking rules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6604000" y="5765800"/>
            <a:ext cx="381000" cy="25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1" name="Shape 38"/>
          <p:cNvSpPr/>
          <p:nvPr/>
        </p:nvSpPr>
        <p:spPr>
          <a:xfrm>
            <a:off x="6985000" y="5257800"/>
            <a:ext cx="2794000" cy="1270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42" name="Shape 39"/>
          <p:cNvSpPr/>
          <p:nvPr/>
        </p:nvSpPr>
        <p:spPr>
          <a:xfrm>
            <a:off x="6985000" y="5257800"/>
            <a:ext cx="2794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5334000"/>
            <a:ext cx="2590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 Monitor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7086600" y="5664200"/>
            <a:ext cx="2590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Track quality metrics, access patterns, compliance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9779000" y="5765800"/>
            <a:ext cx="381000" cy="25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6" name="Shape 43"/>
          <p:cNvSpPr/>
          <p:nvPr/>
        </p:nvSpPr>
        <p:spPr>
          <a:xfrm>
            <a:off x="10160000" y="5257800"/>
            <a:ext cx="2794000" cy="1270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47" name="Shape 44"/>
          <p:cNvSpPr/>
          <p:nvPr/>
        </p:nvSpPr>
        <p:spPr>
          <a:xfrm>
            <a:off x="10160000" y="5257800"/>
            <a:ext cx="2794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8" name="Text 45"/>
          <p:cNvSpPr/>
          <p:nvPr/>
        </p:nvSpPr>
        <p:spPr>
          <a:xfrm>
            <a:off x="10261600" y="5334000"/>
            <a:ext cx="2590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4. Enforce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10261600" y="5664200"/>
            <a:ext cx="2590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Auto-remediation for violations, audit reporting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12954000" y="5765800"/>
            <a:ext cx="381000" cy="25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51" name="Shape 48"/>
          <p:cNvSpPr/>
          <p:nvPr/>
        </p:nvSpPr>
        <p:spPr>
          <a:xfrm>
            <a:off x="13335000" y="5257800"/>
            <a:ext cx="2286000" cy="1270000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52" name="Text 49"/>
          <p:cNvSpPr/>
          <p:nvPr/>
        </p:nvSpPr>
        <p:spPr>
          <a:xfrm>
            <a:off x="13436600" y="5334000"/>
            <a:ext cx="2082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5. Evolve</a:t>
            </a:r>
            <a:endParaRPr lang="en-US" sz="1400" dirty="0"/>
          </a:p>
        </p:txBody>
      </p:sp>
      <p:sp>
        <p:nvSpPr>
          <p:cNvPr id="53" name="Text 50"/>
          <p:cNvSpPr/>
          <p:nvPr/>
        </p:nvSpPr>
        <p:spPr>
          <a:xfrm>
            <a:off x="13436600" y="5664200"/>
            <a:ext cx="208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improvement for regulations and threats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635000" y="6731000"/>
            <a:ext cx="1498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55" name="Shape 52"/>
          <p:cNvSpPr/>
          <p:nvPr/>
        </p:nvSpPr>
        <p:spPr>
          <a:xfrm>
            <a:off x="635000" y="67310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56" name="Text 53"/>
          <p:cNvSpPr/>
          <p:nvPr/>
        </p:nvSpPr>
        <p:spPr>
          <a:xfrm>
            <a:off x="736600" y="67310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Regulatory Compliance Matrix</a:t>
            </a:r>
            <a:endParaRPr lang="en-US" sz="1300" dirty="0"/>
          </a:p>
        </p:txBody>
      </p:sp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7061200"/>
          <a:ext cx="14986000" cy="1143000"/>
        </p:xfrm>
        <a:graphic>
          <a:graphicData uri="http://schemas.openxmlformats.org/drawingml/2006/table">
            <a:tbl>
              <a:tblPr/>
              <a:tblGrid>
                <a:gridCol w="2697480"/>
                <a:gridCol w="4495800"/>
                <a:gridCol w="3896360"/>
                <a:gridCol w="389636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Regulation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Scope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Key Requirements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 Engineering Impact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GDPR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EU citizens' personal data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Right to erasure, portability, consent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PII detection, anonymization pipelines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CCPA / CPRA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California residents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Opt-out, disclosure, deletion rights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 inventory, access request automation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  <p:sp>
        <p:nvSpPr>
          <p:cNvPr id="58" name="Shape 54"/>
          <p:cNvSpPr/>
          <p:nvPr/>
        </p:nvSpPr>
        <p:spPr>
          <a:xfrm>
            <a:off x="635000" y="83312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59" name="Text 55"/>
          <p:cNvSpPr/>
          <p:nvPr/>
        </p:nvSpPr>
        <p:spPr>
          <a:xfrm>
            <a:off x="635000" y="8432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Course Materials — Day 3 Outline, Section 5</a:t>
            </a:r>
            <a:endParaRPr lang="en-US" sz="1200" dirty="0"/>
          </a:p>
        </p:txBody>
      </p:sp>
      <p:sp>
        <p:nvSpPr>
          <p:cNvPr id="60" name="Text 56"/>
          <p:cNvSpPr/>
          <p:nvPr/>
        </p:nvSpPr>
        <p:spPr>
          <a:xfrm>
            <a:off x="15240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27000"/>
            <a:ext cx="50800" cy="685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87400" y="152400"/>
            <a:ext cx="146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264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Emerging trends are reshaping data engineering toward real-time, AI-driven, and self-service paradigms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35000" y="8636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965200"/>
            <a:ext cx="7493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8" name="Text 6"/>
          <p:cNvSpPr/>
          <p:nvPr/>
        </p:nvSpPr>
        <p:spPr>
          <a:xfrm>
            <a:off x="736600" y="965200"/>
            <a:ext cx="736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Architectural and Technology Trends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000" y="1295400"/>
            <a:ext cx="3556000" cy="18796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635000" y="1295400"/>
            <a:ext cx="35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9"/>
          <p:cNvSpPr/>
          <p:nvPr/>
        </p:nvSpPr>
        <p:spPr>
          <a:xfrm>
            <a:off x="736600" y="1397000"/>
            <a:ext cx="3352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Streaming-First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6600" y="1701800"/>
            <a:ext cx="335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pipelines replacing batch as default. Kafka, Pulsar, and streaming SQL engines enable sub-second analytics. Event-driven architectures become standard.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45000" y="1295400"/>
            <a:ext cx="3556000" cy="1879600"/>
          </a:xfrm>
          <a:prstGeom prst="rect">
            <a:avLst/>
          </a:prstGeom>
          <a:solidFill>
            <a:srgbClr val="FEF6E8"/>
          </a:solidFill>
          <a:ln/>
        </p:spPr>
      </p:sp>
      <p:sp>
        <p:nvSpPr>
          <p:cNvPr id="14" name="Shape 12"/>
          <p:cNvSpPr/>
          <p:nvPr/>
        </p:nvSpPr>
        <p:spPr>
          <a:xfrm>
            <a:off x="4445000" y="1295400"/>
            <a:ext cx="3556000" cy="50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5" name="Text 13"/>
          <p:cNvSpPr/>
          <p:nvPr/>
        </p:nvSpPr>
        <p:spPr>
          <a:xfrm>
            <a:off x="4546600" y="1397000"/>
            <a:ext cx="3352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996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AI/ML Integration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46600" y="1701800"/>
            <a:ext cx="335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stores centralize ML features. Data pipelines feed model training and serving. Vector databases enable RAG and semantic search workloads.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5000" y="3352800"/>
            <a:ext cx="3556000" cy="18796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8" name="Shape 16"/>
          <p:cNvSpPr/>
          <p:nvPr/>
        </p:nvSpPr>
        <p:spPr>
          <a:xfrm>
            <a:off x="635000" y="3352800"/>
            <a:ext cx="35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Text 17"/>
          <p:cNvSpPr/>
          <p:nvPr/>
        </p:nvSpPr>
        <p:spPr>
          <a:xfrm>
            <a:off x="736600" y="3454400"/>
            <a:ext cx="3352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 Mesh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6600" y="3759200"/>
            <a:ext cx="335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Decentralized domain ownership replaces central data teams. Domain teams own their data products. Federated governance ensures interoperability.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45000" y="3352800"/>
            <a:ext cx="3556000" cy="18796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2" name="Shape 20"/>
          <p:cNvSpPr/>
          <p:nvPr/>
        </p:nvSpPr>
        <p:spPr>
          <a:xfrm>
            <a:off x="4445000" y="3352800"/>
            <a:ext cx="35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3" name="Text 21"/>
          <p:cNvSpPr/>
          <p:nvPr/>
        </p:nvSpPr>
        <p:spPr>
          <a:xfrm>
            <a:off x="4546600" y="3454400"/>
            <a:ext cx="3352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Reverse ETL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46600" y="3759200"/>
            <a:ext cx="335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Warehouse data synced back to operational systems. Enables operational analytics in CRM, ERP, and marketing platforms. Closes the analytics-to-action loop.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55000" y="965200"/>
            <a:ext cx="736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6" name="Shape 24"/>
          <p:cNvSpPr/>
          <p:nvPr/>
        </p:nvSpPr>
        <p:spPr>
          <a:xfrm>
            <a:off x="825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7" name="Text 25"/>
          <p:cNvSpPr/>
          <p:nvPr/>
        </p:nvSpPr>
        <p:spPr>
          <a:xfrm>
            <a:off x="8356600" y="965200"/>
            <a:ext cx="723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 and Engineering Trends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255000" y="1295400"/>
            <a:ext cx="3556000" cy="18796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9" name="Shape 27"/>
          <p:cNvSpPr/>
          <p:nvPr/>
        </p:nvSpPr>
        <p:spPr>
          <a:xfrm>
            <a:off x="8255000" y="1295400"/>
            <a:ext cx="35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0" name="Text 28"/>
          <p:cNvSpPr/>
          <p:nvPr/>
        </p:nvSpPr>
        <p:spPr>
          <a:xfrm>
            <a:off x="8356600" y="1397000"/>
            <a:ext cx="3352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 Contracts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356600" y="1701800"/>
            <a:ext cx="335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Schema and SLA guarantees between producers and consumers. Breaks the fragile pipeline pattern. Enables confident downstream dependencies.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2065000" y="1295400"/>
            <a:ext cx="3556000" cy="18796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33" name="Shape 31"/>
          <p:cNvSpPr/>
          <p:nvPr/>
        </p:nvSpPr>
        <p:spPr>
          <a:xfrm>
            <a:off x="12065000" y="1295400"/>
            <a:ext cx="35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4" name="Text 32"/>
          <p:cNvSpPr/>
          <p:nvPr/>
        </p:nvSpPr>
        <p:spPr>
          <a:xfrm>
            <a:off x="12166600" y="1397000"/>
            <a:ext cx="3352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FinOps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2166600" y="1701800"/>
            <a:ext cx="335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cost optimization as a discipline. Tagging, chargeback, and auto-shutdown policies. Query-level cost attribution and optimization.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255000" y="3352800"/>
            <a:ext cx="3556000" cy="18796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37" name="Shape 35"/>
          <p:cNvSpPr/>
          <p:nvPr/>
        </p:nvSpPr>
        <p:spPr>
          <a:xfrm>
            <a:off x="8255000" y="3352800"/>
            <a:ext cx="3556000" cy="50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38" name="Text 36"/>
          <p:cNvSpPr/>
          <p:nvPr/>
        </p:nvSpPr>
        <p:spPr>
          <a:xfrm>
            <a:off x="8356600" y="3454400"/>
            <a:ext cx="3352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996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Low-Code Pipelines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356600" y="3759200"/>
            <a:ext cx="335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pipeline builders democratize ETL creation. SQL-native orchestration reduces code complexity. Balances agility with governance.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2065000" y="3352800"/>
            <a:ext cx="3556000" cy="1879600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41" name="Text 39"/>
          <p:cNvSpPr/>
          <p:nvPr/>
        </p:nvSpPr>
        <p:spPr>
          <a:xfrm>
            <a:off x="12166600" y="3454400"/>
            <a:ext cx="3352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Vector Databases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2166600" y="3759200"/>
            <a:ext cx="335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Purpose-built storage for embeddings and semantic search. Powers RAG, recommendation, and similarity matching. Integrates with LLM pipelines.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35000" y="5435600"/>
            <a:ext cx="1498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44" name="Shape 42"/>
          <p:cNvSpPr/>
          <p:nvPr/>
        </p:nvSpPr>
        <p:spPr>
          <a:xfrm>
            <a:off x="635000" y="54356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5" name="Text 43"/>
          <p:cNvSpPr/>
          <p:nvPr/>
        </p:nvSpPr>
        <p:spPr>
          <a:xfrm>
            <a:off x="736600" y="54356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Evolution Path for Data Engineers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35000" y="5791200"/>
            <a:ext cx="14986000" cy="2413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47" name="Shape 45"/>
          <p:cNvSpPr/>
          <p:nvPr/>
        </p:nvSpPr>
        <p:spPr>
          <a:xfrm>
            <a:off x="635000" y="5791200"/>
            <a:ext cx="38100" cy="24130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8" name="Text 46"/>
          <p:cNvSpPr/>
          <p:nvPr/>
        </p:nvSpPr>
        <p:spPr>
          <a:xfrm>
            <a:off x="838200" y="5892800"/>
            <a:ext cx="14605000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Pipeline Builder to Data Product Engineer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role is evolving from writing batch ETL scripts to designing data products with SLAs, schema contracts, and consumer-facing interfaces.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Skill Transitions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Batch-first to streaming-first thinking | SQL-only to SQL + Python + infrastructure-as-code | Centralized to federated data architectures | Cost-unaware to FinOps-conscious design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Stays Constant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quality, testing, observability, and governance remain foundational. The principles from this course apply regardless of technology trends.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35000" y="83312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50" name="Text 48"/>
          <p:cNvSpPr/>
          <p:nvPr/>
        </p:nvSpPr>
        <p:spPr>
          <a:xfrm>
            <a:off x="635000" y="8432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Course Materials — Day 3 Outline, Section 5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5240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27000"/>
            <a:ext cx="50800" cy="685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87400" y="152400"/>
            <a:ext cx="146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264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Three days of building the foundation for production-grade data engineering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35000" y="8636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1016000"/>
            <a:ext cx="4826000" cy="34925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1016000"/>
            <a:ext cx="482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" name="Shape 6"/>
          <p:cNvSpPr/>
          <p:nvPr/>
        </p:nvSpPr>
        <p:spPr>
          <a:xfrm>
            <a:off x="736600" y="1168400"/>
            <a:ext cx="1016000" cy="304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9" name="Text 7"/>
          <p:cNvSpPr/>
          <p:nvPr/>
        </p:nvSpPr>
        <p:spPr>
          <a:xfrm>
            <a:off x="736600" y="11684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DAY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79600" y="1168400"/>
            <a:ext cx="3479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Foundations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6600" y="1549400"/>
            <a:ext cx="46228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Data engineering makes data usable, trustworthy, and scalable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The DE operates across ingestion, transformation, warehousing, and governance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OLTP and OLAP serve fundamentally different purposes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Pipelines come in multiple forms: batch, streaming, CDC, ETL, ELT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ELT is the dominant modern pattern for cloud platforms</a:t>
            </a:r>
            <a:endParaRPr lang="en-US" sz="12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200" b="1" dirty="0">
                <a:solidFill>
                  <a:srgbClr val="C996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skill: Understand the full lifecycle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15000" y="1016000"/>
            <a:ext cx="4826000" cy="34925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3" name="Shape 11"/>
          <p:cNvSpPr/>
          <p:nvPr/>
        </p:nvSpPr>
        <p:spPr>
          <a:xfrm>
            <a:off x="5715000" y="1016000"/>
            <a:ext cx="4826000" cy="50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4" name="Shape 12"/>
          <p:cNvSpPr/>
          <p:nvPr/>
        </p:nvSpPr>
        <p:spPr>
          <a:xfrm>
            <a:off x="5816600" y="1168400"/>
            <a:ext cx="1016000" cy="304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5" name="Text 13"/>
          <p:cNvSpPr/>
          <p:nvPr/>
        </p:nvSpPr>
        <p:spPr>
          <a:xfrm>
            <a:off x="5816600" y="11684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DAY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59600" y="1168400"/>
            <a:ext cx="3479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996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SQL and Warehousing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16600" y="1549400"/>
            <a:ext cx="46228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SQL is central: DQL, DML, DDL, window functions, CTEs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MERGE/UPSERT enables incremental loading patterns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Warehousing organizes data with facts, dimensions, and grain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Star and snowflake schemas balance simplicity and normalization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SCD Type 2 preserves full history for accurate reporting</a:t>
            </a:r>
            <a:endParaRPr lang="en-US" sz="12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200" b="1" dirty="0">
                <a:solidFill>
                  <a:srgbClr val="C996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skill: Model data for analytics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795000" y="1016000"/>
            <a:ext cx="4826000" cy="3492500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96600" y="1168400"/>
            <a:ext cx="1016000" cy="304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0" name="Text 18"/>
          <p:cNvSpPr/>
          <p:nvPr/>
        </p:nvSpPr>
        <p:spPr>
          <a:xfrm>
            <a:off x="10896600" y="11684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DAY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039600" y="1168400"/>
            <a:ext cx="3479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896600" y="1549400"/>
            <a:ext cx="46228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Scalable pipelines need orchestration, error handling, and monitoring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Cloud-native platforms transform storage and compute capabilities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Governance and compliance are non-negotiable foundations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Real-time, AI-driven, and self-service trends define the future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The DE role evolves from builder to data product engineer</a:t>
            </a:r>
            <a:endParaRPr lang="en-US" sz="12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200" b="1" dirty="0">
                <a:solidFill>
                  <a:srgbClr val="C996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skill: Design for production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5000" y="4699000"/>
            <a:ext cx="14986000" cy="2794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4" name="Shape 22"/>
          <p:cNvSpPr/>
          <p:nvPr/>
        </p:nvSpPr>
        <p:spPr>
          <a:xfrm>
            <a:off x="635000" y="46990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5" name="Text 23"/>
          <p:cNvSpPr/>
          <p:nvPr/>
        </p:nvSpPr>
        <p:spPr>
          <a:xfrm>
            <a:off x="736600" y="46990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F26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Production-Ready Principles — The Mindset That Makes the Difference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5000" y="5054600"/>
            <a:ext cx="3556000" cy="1524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7" name="Shape 25"/>
          <p:cNvSpPr/>
          <p:nvPr/>
        </p:nvSpPr>
        <p:spPr>
          <a:xfrm>
            <a:off x="635000" y="5054600"/>
            <a:ext cx="35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8" name="Text 26"/>
          <p:cNvSpPr/>
          <p:nvPr/>
        </p:nvSpPr>
        <p:spPr>
          <a:xfrm>
            <a:off x="736600" y="5156200"/>
            <a:ext cx="3352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Test Everything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6600" y="5461000"/>
            <a:ext cx="3352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 tests for transformations. Integration tests for pipelines. Data quality tests for schemas, nulls, and referential integrity.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45000" y="5054600"/>
            <a:ext cx="3556000" cy="1524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31" name="Shape 29"/>
          <p:cNvSpPr/>
          <p:nvPr/>
        </p:nvSpPr>
        <p:spPr>
          <a:xfrm>
            <a:off x="4445000" y="5054600"/>
            <a:ext cx="3556000" cy="50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2" name="Text 30"/>
          <p:cNvSpPr/>
          <p:nvPr/>
        </p:nvSpPr>
        <p:spPr>
          <a:xfrm>
            <a:off x="4546600" y="5156200"/>
            <a:ext cx="3352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Observe and Alert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46600" y="5461000"/>
            <a:ext cx="3352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logging, row count validation, freshness checks. Automated alerts for SLA breaches and schema drift.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55000" y="5054600"/>
            <a:ext cx="3556000" cy="1524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35" name="Shape 33"/>
          <p:cNvSpPr/>
          <p:nvPr/>
        </p:nvSpPr>
        <p:spPr>
          <a:xfrm>
            <a:off x="8255000" y="5054600"/>
            <a:ext cx="3556000" cy="50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36" name="Text 34"/>
          <p:cNvSpPr/>
          <p:nvPr/>
        </p:nvSpPr>
        <p:spPr>
          <a:xfrm>
            <a:off x="8356600" y="5156200"/>
            <a:ext cx="3352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996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Design for Recovery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356600" y="5461000"/>
            <a:ext cx="3352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Idempotent pipelines enable safe re-runs. Automated retries with backoff. Clear rollback procedures and data quarantine strategies.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2065000" y="5054600"/>
            <a:ext cx="3556000" cy="1524000"/>
          </a:xfrm>
          <a:prstGeom prst="rect">
            <a:avLst/>
          </a:prstGeom>
          <a:solidFill>
            <a:srgbClr val="FEF6E8"/>
          </a:solidFill>
          <a:ln/>
        </p:spPr>
      </p:sp>
      <p:sp>
        <p:nvSpPr>
          <p:cNvPr id="39" name="Shape 37"/>
          <p:cNvSpPr/>
          <p:nvPr/>
        </p:nvSpPr>
        <p:spPr>
          <a:xfrm>
            <a:off x="12065000" y="5054600"/>
            <a:ext cx="3556000" cy="50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0" name="Text 38"/>
          <p:cNvSpPr/>
          <p:nvPr/>
        </p:nvSpPr>
        <p:spPr>
          <a:xfrm>
            <a:off x="12166600" y="5156200"/>
            <a:ext cx="3352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996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Govern by Default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2166600" y="5461000"/>
            <a:ext cx="3352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control from day one. Lineage tracking in every pipeline. Data classification and compliance built into the design.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5000" y="6781800"/>
            <a:ext cx="14986000" cy="1397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3" name="Text 41"/>
          <p:cNvSpPr/>
          <p:nvPr/>
        </p:nvSpPr>
        <p:spPr>
          <a:xfrm>
            <a:off x="838200" y="6883400"/>
            <a:ext cx="146050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Continue building.</a:t>
            </a:r>
            <a:pPr algn="l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Practice SQL daily. Design for production from day one. Stay curious about emerging technologies. The best data engineers combine deep technical fundamentals with a relentless focus on data quality, operational excellence, and business value.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35000" y="8331200"/>
            <a:ext cx="149860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45" name="Text 43"/>
          <p:cNvSpPr/>
          <p:nvPr/>
        </p:nvSpPr>
        <p:spPr>
          <a:xfrm>
            <a:off x="635000" y="8432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Course Materials — Comprehensive Three-Day Curriculum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5240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940800" cy="9144000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940800" cy="635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2286000"/>
            <a:ext cx="711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4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Thank You</a:t>
            </a:r>
            <a:endParaRPr lang="en-US" sz="5400" dirty="0"/>
          </a:p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FFFFFF">
                    <a:alpha val="73333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/ Q&amp;A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889000" y="4140200"/>
            <a:ext cx="2032000" cy="25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6" name="Text 4"/>
          <p:cNvSpPr/>
          <p:nvPr/>
        </p:nvSpPr>
        <p:spPr>
          <a:xfrm>
            <a:off x="889000" y="43688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Engineering Foundations — Three-Day Course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89000" y="50800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5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Concepts · Advanced SQL · Data Warehousing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5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ETL/ELT Mastery · Modern Architecture · Data Governance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9000" y="8382000"/>
            <a:ext cx="711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2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Engineering Foundations · Course materials for educational use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94800" y="381000"/>
            <a:ext cx="6426200" cy="381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9194800" y="381000"/>
            <a:ext cx="38100" cy="3810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1" name="Text 9"/>
          <p:cNvSpPr/>
          <p:nvPr/>
        </p:nvSpPr>
        <p:spPr>
          <a:xfrm>
            <a:off x="9296400" y="3810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Next Steps for Continued Learning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296400" y="914400"/>
            <a:ext cx="6223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Practice SQL Daily</a:t>
            </a:r>
            <a:endParaRPr lang="en-US" sz="1300" dirty="0"/>
          </a:p>
          <a:p>
            <a:pPr algn="l">
              <a:lnSpc>
                <a:spcPct val="17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 through window functions, CTEs, and MERGE on LeetCode or your warehouse.</a:t>
            </a:r>
            <a:endParaRPr lang="en-US" sz="1300" dirty="0"/>
          </a:p>
          <a:p>
            <a:pPr algn="l">
              <a:lnSpc>
                <a:spcPct val="17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Build a Personal Project</a:t>
            </a:r>
            <a:endParaRPr lang="en-US" sz="1300" dirty="0"/>
          </a:p>
          <a:p>
            <a:pPr algn="l">
              <a:lnSpc>
                <a:spcPct val="17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an end-to-end pipeline: extract, load, model dimensions/facts, dashboard.</a:t>
            </a:r>
            <a:endParaRPr lang="en-US" sz="1300" dirty="0"/>
          </a:p>
          <a:p>
            <a:pPr algn="l">
              <a:lnSpc>
                <a:spcPct val="17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Explore Cloud Platforms</a:t>
            </a:r>
            <a:endParaRPr lang="en-US" sz="1300" dirty="0"/>
          </a:p>
          <a:p>
            <a:pPr algn="l">
              <a:lnSpc>
                <a:spcPct val="17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 free tiers on Snowflake, BigQuery, or Databricks. Experience elastic scaling.</a:t>
            </a:r>
            <a:endParaRPr lang="en-US" sz="1300" dirty="0"/>
          </a:p>
          <a:p>
            <a:pPr algn="l">
              <a:lnSpc>
                <a:spcPct val="17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Join the Community</a:t>
            </a:r>
            <a:endParaRPr lang="en-US" sz="1300" dirty="0"/>
          </a:p>
          <a:p>
            <a:pPr algn="l">
              <a:lnSpc>
                <a:spcPct val="170000"/>
              </a:lnSpc>
            </a:pPr>
            <a:r>
              <a:rPr lang="en-US" sz="12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Follow dbt and Spark blogs, attend meetups, contribute to open-source tools.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94800" y="4038600"/>
            <a:ext cx="64262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14" name="Shape 12"/>
          <p:cNvSpPr/>
          <p:nvPr/>
        </p:nvSpPr>
        <p:spPr>
          <a:xfrm>
            <a:off x="9194800" y="4140200"/>
            <a:ext cx="6426200" cy="38100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5" name="Shape 13"/>
          <p:cNvSpPr/>
          <p:nvPr/>
        </p:nvSpPr>
        <p:spPr>
          <a:xfrm>
            <a:off x="9194800" y="4140200"/>
            <a:ext cx="38100" cy="381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6" name="Text 14"/>
          <p:cNvSpPr/>
          <p:nvPr/>
        </p:nvSpPr>
        <p:spPr>
          <a:xfrm>
            <a:off x="9296400" y="41402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Resources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296400" y="4648200"/>
            <a:ext cx="6223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3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Recommended Reading</a:t>
            </a:r>
            <a:endParaRPr lang="en-US" sz="1300" dirty="0"/>
          </a:p>
          <a:p>
            <a:pPr algn="l">
              <a:lnSpc>
                <a:spcPct val="180000"/>
              </a:lnSpc>
            </a:pPr>
            <a:r>
              <a:rPr lang="en-US" sz="12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Designing Data-Intensive Applications (Martin Kleppmann)</a:t>
            </a:r>
            <a:endParaRPr lang="en-US" sz="1300" dirty="0"/>
          </a:p>
          <a:p>
            <a:pPr algn="l">
              <a:lnSpc>
                <a:spcPct val="180000"/>
              </a:lnSpc>
            </a:pPr>
            <a:r>
              <a:rPr lang="en-US" sz="12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The Data Warehouse Toolkit (Ralph Kimball)</a:t>
            </a:r>
            <a:endParaRPr lang="en-US" sz="1300" dirty="0"/>
          </a:p>
          <a:p>
            <a:pPr algn="l">
              <a:lnSpc>
                <a:spcPct val="180000"/>
              </a:lnSpc>
            </a:pPr>
            <a:r>
              <a:rPr lang="en-US" sz="12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Fundamentals of Data Engineering (Joe Reis)</a:t>
            </a:r>
            <a:endParaRPr lang="en-US" sz="1300" dirty="0"/>
          </a:p>
          <a:p>
            <a:pPr algn="l">
              <a:lnSpc>
                <a:spcPct val="180000"/>
              </a:lnSpc>
              <a:spcBef>
                <a:spcPts val="800"/>
              </a:spcBef>
            </a:pPr>
            <a:r>
              <a:rPr lang="en-US" sz="1300" b="1" dirty="0">
                <a:solidFill>
                  <a:srgbClr val="1B3A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Online Communities</a:t>
            </a:r>
            <a:endParaRPr lang="en-US" sz="1300" dirty="0"/>
          </a:p>
          <a:p>
            <a:pPr algn="l">
              <a:lnSpc>
                <a:spcPct val="180000"/>
              </a:lnSpc>
            </a:pPr>
            <a:r>
              <a:rPr lang="en-US" sz="12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r/dataengineering · dbt Community · Locally Optimistic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94800" y="7315200"/>
            <a:ext cx="2540000" cy="127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9" name="Text 17"/>
          <p:cNvSpPr/>
          <p:nvPr/>
        </p:nvSpPr>
        <p:spPr>
          <a:xfrm>
            <a:off x="9194800" y="7493000"/>
            <a:ext cx="6426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8899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course provides foundational knowledge for data engineering. Continue learning through practice, community engagement, and hands-on project work.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94800" y="8331200"/>
            <a:ext cx="6426200" cy="12700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21" name="Text 19"/>
          <p:cNvSpPr/>
          <p:nvPr/>
        </p:nvSpPr>
        <p:spPr>
          <a:xfrm>
            <a:off x="14859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899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Engineering Foundations — Three-Day Course</dc:title>
  <dc:subject>Data Engineering Foundations — Three-Day Course</dc:subject>
  <dc:creator>Kimi</dc:creator>
  <cp:lastModifiedBy>Kimi</cp:lastModifiedBy>
  <cp:revision>1</cp:revision>
  <dcterms:created xsi:type="dcterms:W3CDTF">2026-06-18T19:24:22Z</dcterms:created>
  <dcterms:modified xsi:type="dcterms:W3CDTF">2026-06-18T19:24:22Z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{"Label":"Data Engineering Foundations — Three-Day Course","ContentProducer":"001191110108MACG2KBH8F10000","ProduceID":"19edc018-9542-8557-8000-0000a2e68fc3","ReservedCode1":"","ContentPropagator":"001191110108MACG2KBH8F20000","PropagateID":"19edbfb7-ab82-8273-8000-09ff9cd27cd6","ReservedCode2":""}</vt:lpwstr>
  </property>
</Properties>
</file>